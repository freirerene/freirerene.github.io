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13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g"/>
          <p:cNvSpPr/>
          <p:nvPr>
            <p:ph type="pic" idx="13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14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/>
          <p:nvPr>
            <p:ph type="pic" idx="13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13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13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660384004_1290x1720.jpg"/>
          <p:cNvSpPr/>
          <p:nvPr>
            <p:ph type="pic" idx="14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13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13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13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13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"/>
          <p:cNvSpPr/>
          <p:nvPr>
            <p:ph type="pic" sz="quarter" idx="13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Image"/>
          <p:cNvSpPr/>
          <p:nvPr>
            <p:ph type="pic" sz="half" idx="14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Image"/>
          <p:cNvSpPr/>
          <p:nvPr>
            <p:ph type="pic" idx="15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Image"/>
          <p:cNvSpPr/>
          <p:nvPr>
            <p:ph type="pic" idx="13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ne S. Freire,…"/>
          <p:cNvSpPr txBox="1"/>
          <p:nvPr>
            <p:ph type="body" idx="13"/>
          </p:nvPr>
        </p:nvSpPr>
        <p:spPr>
          <a:xfrm>
            <a:off x="1206499" y="10437237"/>
            <a:ext cx="21971002" cy="14969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Rene S. Freire,</a:t>
            </a:r>
          </a:p>
          <a:p>
            <a:pPr/>
            <a:r>
              <a:t>Orientador: Prof. Dr. Domingos H. U. Marchetti</a:t>
            </a:r>
          </a:p>
        </p:txBody>
      </p:sp>
      <p:sp>
        <p:nvSpPr>
          <p:cNvPr id="152" name="Modelo de Yukawa-Kac"/>
          <p:cNvSpPr txBox="1"/>
          <p:nvPr>
            <p:ph type="ctrTitle"/>
          </p:nvPr>
        </p:nvSpPr>
        <p:spPr>
          <a:xfrm>
            <a:off x="1206496" y="2387781"/>
            <a:ext cx="21971004" cy="4648201"/>
          </a:xfrm>
          <a:prstGeom prst="rect">
            <a:avLst/>
          </a:prstGeom>
        </p:spPr>
        <p:txBody>
          <a:bodyPr/>
          <a:lstStyle/>
          <a:p>
            <a:pPr/>
            <a:r>
              <a:t>Modelo de Yukawa-Kac </a:t>
            </a:r>
          </a:p>
        </p:txBody>
      </p:sp>
      <p:sp>
        <p:nvSpPr>
          <p:cNvPr id="153" name="Uma Abordagem via Equações Diferenciais e Grupo de Renormalização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defTabSz="1365469">
              <a:lnSpc>
                <a:spcPct val="80000"/>
              </a:lnSpc>
              <a:defRPr spc="-129" sz="6496"/>
            </a:lvl1pPr>
          </a:lstStyle>
          <a:p>
            <a:pPr/>
            <a:r>
              <a:t>Uma Abordagem via Equações Diferenciais e Grupo de Renormalização</a:t>
            </a:r>
          </a:p>
        </p:txBody>
      </p:sp>
      <p:sp>
        <p:nvSpPr>
          <p:cNvPr id="154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Introdução"/>
          <p:cNvSpPr txBox="1"/>
          <p:nvPr>
            <p:ph type="title"/>
          </p:nvPr>
        </p:nvSpPr>
        <p:spPr>
          <a:xfrm>
            <a:off x="1206500" y="1079972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Introdução</a:t>
            </a:r>
          </a:p>
        </p:txBody>
      </p:sp>
      <p:sp>
        <p:nvSpPr>
          <p:cNvPr id="157" name="Investigamos um modelo de spins que interagem com um potencial Yukawa-Kac (que chamamos tipo van der Waals)"/>
          <p:cNvSpPr txBox="1"/>
          <p:nvPr/>
        </p:nvSpPr>
        <p:spPr>
          <a:xfrm>
            <a:off x="3055191" y="3387778"/>
            <a:ext cx="16218856" cy="146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Investigamos um modelo de spins que interagem com um potencial Yukawa-Kac (que chamamos tipo van der Waals)</a:t>
            </a:r>
          </a:p>
        </p:txBody>
      </p:sp>
      <p:sp>
        <p:nvSpPr>
          <p:cNvPr id="158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Introdução"/>
          <p:cNvSpPr txBox="1"/>
          <p:nvPr>
            <p:ph type="title"/>
          </p:nvPr>
        </p:nvSpPr>
        <p:spPr>
          <a:xfrm>
            <a:off x="1206500" y="1079972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Introdução</a:t>
            </a:r>
          </a:p>
        </p:txBody>
      </p:sp>
      <p:sp>
        <p:nvSpPr>
          <p:cNvPr id="161" name="Investigamos um modelo de spins que interagem com um potencial Yukawa-Kac (que chamamos tipo van der Waals)"/>
          <p:cNvSpPr txBox="1"/>
          <p:nvPr/>
        </p:nvSpPr>
        <p:spPr>
          <a:xfrm>
            <a:off x="3055191" y="3387778"/>
            <a:ext cx="16218856" cy="146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Investigamos um modelo de spins que interagem com um potencial Yukawa-Kac (que chamamos tipo van der Waals)</a:t>
            </a:r>
          </a:p>
        </p:txBody>
      </p:sp>
      <p:sp>
        <p:nvSpPr>
          <p:cNvPr id="162" name="Duas abordagens:…"/>
          <p:cNvSpPr txBox="1"/>
          <p:nvPr/>
        </p:nvSpPr>
        <p:spPr>
          <a:xfrm>
            <a:off x="3055191" y="5722283"/>
            <a:ext cx="9958731" cy="325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/>
            <a:r>
              <a:t>Duas abordagens:</a:t>
            </a:r>
          </a:p>
          <a:p>
            <a:pPr lvl="1" marL="1219200" indent="-609600">
              <a:buSzPct val="123000"/>
              <a:buChar char="•"/>
            </a:pPr>
            <a:r>
              <a:t>Via Equações Diferenciais</a:t>
            </a:r>
          </a:p>
          <a:p>
            <a:pPr lvl="1" marL="1219200" indent="-609600">
              <a:buSzPct val="123000"/>
              <a:buChar char="•"/>
            </a:pPr>
            <a:r>
              <a:t>Via Grupo de Renormalização   </a:t>
            </a:r>
          </a:p>
        </p:txBody>
      </p:sp>
      <p:sp>
        <p:nvSpPr>
          <p:cNvPr id="163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arte I : Equações"/>
          <p:cNvSpPr txBox="1"/>
          <p:nvPr>
            <p:ph type="title"/>
          </p:nvPr>
        </p:nvSpPr>
        <p:spPr>
          <a:xfrm>
            <a:off x="1206500" y="1079972"/>
            <a:ext cx="21971000" cy="1434950"/>
          </a:xfrm>
          <a:prstGeom prst="rect">
            <a:avLst/>
          </a:prstGeom>
        </p:spPr>
        <p:txBody>
          <a:bodyPr/>
          <a:lstStyle>
            <a:lvl1pPr defTabSz="1828754">
              <a:defRPr b="0" spc="-174" sz="87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Parte I : Equações</a:t>
            </a:r>
          </a:p>
        </p:txBody>
      </p:sp>
      <p:sp>
        <p:nvSpPr>
          <p:cNvPr id="166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Equações"/>
          <p:cNvSpPr txBox="1"/>
          <p:nvPr>
            <p:ph type="title"/>
          </p:nvPr>
        </p:nvSpPr>
        <p:spPr>
          <a:xfrm>
            <a:off x="1206500" y="1079972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169" name="Campo Médio"/>
          <p:cNvSpPr txBox="1"/>
          <p:nvPr/>
        </p:nvSpPr>
        <p:spPr>
          <a:xfrm>
            <a:off x="1206500" y="5913061"/>
            <a:ext cx="4781677" cy="944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/>
            </a:lvl1pPr>
          </a:lstStyle>
          <a:p>
            <a:pPr/>
            <a:r>
              <a:t>Campo Médio</a:t>
            </a:r>
          </a:p>
        </p:txBody>
      </p:sp>
      <p:sp>
        <p:nvSpPr>
          <p:cNvPr id="170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Equações"/>
          <p:cNvSpPr txBox="1"/>
          <p:nvPr>
            <p:ph type="title"/>
          </p:nvPr>
        </p:nvSpPr>
        <p:spPr>
          <a:xfrm>
            <a:off x="1206500" y="1079972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173" name="Newman 1986: Campo Médio como Equações Diferenciais Parciais."/>
          <p:cNvSpPr txBox="1"/>
          <p:nvPr/>
        </p:nvSpPr>
        <p:spPr>
          <a:xfrm>
            <a:off x="2874946" y="3803276"/>
            <a:ext cx="16218856" cy="146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Newman 1986: Campo Médio como Equações Diferenciais Parciais.</a:t>
            </a:r>
          </a:p>
        </p:txBody>
      </p:sp>
      <p:sp>
        <p:nvSpPr>
          <p:cNvPr id="174" name="Modelo: spins   em"/>
          <p:cNvSpPr txBox="1"/>
          <p:nvPr/>
        </p:nvSpPr>
        <p:spPr>
          <a:xfrm>
            <a:off x="2874946" y="5773157"/>
            <a:ext cx="18634108" cy="2169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/>
            <a:r>
              <a:rPr b="1"/>
              <a:t>Modelo</a:t>
            </a:r>
            <a:r>
              <a:t>: spins </a:t>
            </a:r>
            <a14:m>
              <m:oMath>
                <m:r>
                  <a:rPr xmlns:a="http://schemas.openxmlformats.org/drawingml/2006/main" sz="5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σ</m:t>
                </m:r>
              </m:oMath>
            </a14:m>
            <a:r>
              <a:t> em</a:t>
            </a:r>
          </a:p>
        </p:txBody>
      </p:sp>
      <p:sp>
        <p:nvSpPr>
          <p:cNvPr id="175" name="Equation"/>
          <p:cNvSpPr txBox="1"/>
          <p:nvPr/>
        </p:nvSpPr>
        <p:spPr>
          <a:xfrm>
            <a:off x="9644812" y="7053332"/>
            <a:ext cx="5433212" cy="70615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m:rPr>
                          <m:sty m:val="p"/>
                        </m:rPr>
                        <a:rPr xmlns:a="http://schemas.openxmlformats.org/drawingml/2006/main" sz="6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e>
                    <m:sub>
                      <m:r>
                        <m:rPr>
                          <m:sty m:val="p"/>
                        </m:rPr>
                        <a:rPr xmlns:a="http://schemas.openxmlformats.org/drawingml/2006/main" sz="6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</m:sub>
                  </m:sSub>
                  <m:r>
                    <a:rPr xmlns:a="http://schemas.openxmlformats.org/drawingml/2006/main" sz="6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∋</m:t>
                  </m:r>
                  <m:r>
                    <a:rPr xmlns:a="http://schemas.openxmlformats.org/drawingml/2006/main" sz="6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σ</m:t>
                  </m:r>
                  <m:r>
                    <a:rPr xmlns:a="http://schemas.openxmlformats.org/drawingml/2006/main" sz="6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:</m:t>
                  </m:r>
                  <m:r>
                    <m:rPr>
                      <m:sty m:val="p"/>
                    </m:rPr>
                    <a:rPr xmlns:a="http://schemas.openxmlformats.org/drawingml/2006/main" sz="6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Λ</m:t>
                  </m:r>
                  <m:r>
                    <a:rPr xmlns:a="http://schemas.openxmlformats.org/drawingml/2006/main" sz="6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→</m:t>
                  </m:r>
                  <m:r>
                    <m:rPr>
                      <m:sty m:val="p"/>
                    </m:rPr>
                    <a:rPr xmlns:a="http://schemas.openxmlformats.org/drawingml/2006/main" sz="6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Ω</m:t>
                  </m:r>
                  <m:r>
                    <a:rPr xmlns:a="http://schemas.openxmlformats.org/drawingml/2006/main" sz="6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6000"/>
          </a:p>
        </p:txBody>
      </p:sp>
      <p:sp>
        <p:nvSpPr>
          <p:cNvPr id="176" name="onde   e  ; com o Hamiltoniano"/>
          <p:cNvSpPr txBox="1"/>
          <p:nvPr/>
        </p:nvSpPr>
        <p:spPr>
          <a:xfrm>
            <a:off x="2874946" y="8674183"/>
            <a:ext cx="14004543" cy="959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onde </a:t>
            </a:r>
            <a14:m>
              <m:oMath>
                <m:r>
                  <m:rPr>
                    <m:sty m:val="p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Λ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⊂</m:t>
                </m:r>
                <m:sSup>
                  <m:e>
                    <m:r>
                      <m:rPr>
                        <m:sty m:val="p"/>
                        <m:scr m:val="double-struck"/>
                      </m:rP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Z</m:t>
                    </m:r>
                  </m:e>
                  <m:sup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</m:sup>
                </m:sSup>
              </m:oMath>
            </a14:m>
            <a:r>
              <a:t> e </a:t>
            </a:r>
            <a14:m>
              <m:oMath>
                <m:r>
                  <m:rPr>
                    <m:sty m:val="p"/>
                  </m:rP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Ω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{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1,1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}</m:t>
                </m:r>
              </m:oMath>
            </a14:m>
            <a:r>
              <a:t>; com o Hamiltoniano</a:t>
            </a:r>
          </a:p>
        </p:txBody>
      </p:sp>
      <p:sp>
        <p:nvSpPr>
          <p:cNvPr id="177" name="Equation"/>
          <p:cNvSpPr txBox="1"/>
          <p:nvPr/>
        </p:nvSpPr>
        <p:spPr>
          <a:xfrm>
            <a:off x="7667529" y="10901415"/>
            <a:ext cx="9387778" cy="161534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σ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178" name="Campo Médio"/>
          <p:cNvSpPr txBox="1"/>
          <p:nvPr/>
        </p:nvSpPr>
        <p:spPr>
          <a:xfrm>
            <a:off x="1206500" y="2350105"/>
            <a:ext cx="4781677" cy="944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/>
            </a:lvl1pPr>
          </a:lstStyle>
          <a:p>
            <a:pPr/>
            <a:r>
              <a:t>Campo Médio</a:t>
            </a:r>
          </a:p>
        </p:txBody>
      </p:sp>
      <p:sp>
        <p:nvSpPr>
          <p:cNvPr id="179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Equações"/>
          <p:cNvSpPr txBox="1"/>
          <p:nvPr>
            <p:ph type="title"/>
          </p:nvPr>
        </p:nvSpPr>
        <p:spPr>
          <a:xfrm>
            <a:off x="1206500" y="1079972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182" name="A pressão à volume finito   e a magnetização à volume finito  , satisfazem as seguintes equações"/>
          <p:cNvSpPr txBox="1"/>
          <p:nvPr/>
        </p:nvSpPr>
        <p:spPr>
          <a:xfrm>
            <a:off x="2874946" y="3684026"/>
            <a:ext cx="16218856" cy="1758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A pressão à volume finito </a:t>
            </a:r>
            <a14:m>
              <m:oMath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ϕ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β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e a magnetização à volume finito </a:t>
            </a:r>
            <a14:m>
              <m:oMath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β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, satisfazem as seguintes equações </a:t>
            </a:r>
          </a:p>
        </p:txBody>
      </p:sp>
      <p:sp>
        <p:nvSpPr>
          <p:cNvPr id="183" name="Equation"/>
          <p:cNvSpPr txBox="1"/>
          <p:nvPr/>
        </p:nvSpPr>
        <p:spPr>
          <a:xfrm>
            <a:off x="7710249" y="10282180"/>
            <a:ext cx="6936991" cy="139933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J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den>
                  </m:f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0,</m:t>
                  </m:r>
                </m:oMath>
              </m:oMathPara>
            </a14:m>
            <a:endParaRPr sz="4800"/>
          </a:p>
        </p:txBody>
      </p:sp>
      <p:sp>
        <p:nvSpPr>
          <p:cNvPr id="184" name="Equation"/>
          <p:cNvSpPr txBox="1"/>
          <p:nvPr/>
        </p:nvSpPr>
        <p:spPr>
          <a:xfrm>
            <a:off x="7710249" y="5962321"/>
            <a:ext cx="6548250" cy="139933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den>
                  </m:f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0,</m:t>
                  </m:r>
                </m:oMath>
              </m:oMathPara>
            </a14:m>
            <a:endParaRPr sz="4800"/>
          </a:p>
        </p:txBody>
      </p:sp>
      <p:sp>
        <p:nvSpPr>
          <p:cNvPr id="185" name="Equation"/>
          <p:cNvSpPr txBox="1"/>
          <p:nvPr/>
        </p:nvSpPr>
        <p:spPr>
          <a:xfrm>
            <a:off x="7710249" y="7881557"/>
            <a:ext cx="5823442" cy="75041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ϕ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log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cosh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186" name="Equation"/>
          <p:cNvSpPr txBox="1"/>
          <p:nvPr/>
        </p:nvSpPr>
        <p:spPr>
          <a:xfrm>
            <a:off x="7710249" y="12467794"/>
            <a:ext cx="4479274" cy="52486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tanh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187" name="E"/>
          <p:cNvSpPr txBox="1"/>
          <p:nvPr/>
        </p:nvSpPr>
        <p:spPr>
          <a:xfrm>
            <a:off x="2874946" y="9143454"/>
            <a:ext cx="48676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</a:t>
            </a:r>
          </a:p>
        </p:txBody>
      </p:sp>
      <p:sp>
        <p:nvSpPr>
          <p:cNvPr id="188" name="Campo Médio"/>
          <p:cNvSpPr txBox="1"/>
          <p:nvPr/>
        </p:nvSpPr>
        <p:spPr>
          <a:xfrm>
            <a:off x="1206500" y="2350105"/>
            <a:ext cx="4781677" cy="944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/>
            </a:lvl1pPr>
          </a:lstStyle>
          <a:p>
            <a:pPr/>
            <a:r>
              <a:t>Campo Médio</a:t>
            </a:r>
          </a:p>
        </p:txBody>
      </p:sp>
      <p:sp>
        <p:nvSpPr>
          <p:cNvPr id="189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Equações"/>
          <p:cNvSpPr txBox="1"/>
          <p:nvPr>
            <p:ph type="title"/>
          </p:nvPr>
        </p:nvSpPr>
        <p:spPr>
          <a:xfrm>
            <a:off x="1206500" y="1079972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192" name="Podemos resolver essas equações para  :"/>
          <p:cNvSpPr txBox="1"/>
          <p:nvPr/>
        </p:nvSpPr>
        <p:spPr>
          <a:xfrm>
            <a:off x="2898347" y="4206731"/>
            <a:ext cx="16218856" cy="9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Podemos resolver essas equações para </a:t>
            </a:r>
            <a14:m>
              <m:oMath>
                <m:r>
                  <m:rPr>
                    <m:sty m:val="p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Λ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↑</m:t>
                </m:r>
                <m:sSup>
                  <m:e>
                    <m:r>
                      <m:rPr>
                        <m:sty m:val="p"/>
                        <m:scr m:val="double-struck"/>
                      </m:rP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Z</m:t>
                    </m:r>
                  </m:e>
                  <m:sup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</m:sup>
                </m:sSup>
              </m:oMath>
            </a14:m>
            <a:r>
              <a:t>:</a:t>
            </a:r>
          </a:p>
        </p:txBody>
      </p:sp>
      <p:sp>
        <p:nvSpPr>
          <p:cNvPr id="193" name="Equation"/>
          <p:cNvSpPr txBox="1"/>
          <p:nvPr/>
        </p:nvSpPr>
        <p:spPr>
          <a:xfrm>
            <a:off x="6958545" y="6516535"/>
            <a:ext cx="10466910" cy="162759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ϕ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sup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  <m:scr m:val="double-struck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{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log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cosh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}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194" name="Solução de Hopf-Lax. A magnetização é a solução de Lax-Oleiniki."/>
          <p:cNvSpPr txBox="1"/>
          <p:nvPr/>
        </p:nvSpPr>
        <p:spPr>
          <a:xfrm>
            <a:off x="2898347" y="9494471"/>
            <a:ext cx="1833646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Solução de Hopf-Lax. A magnetização é a solução de Lax-Oleiniki.</a:t>
            </a:r>
          </a:p>
        </p:txBody>
      </p:sp>
      <p:sp>
        <p:nvSpPr>
          <p:cNvPr id="195" name="Campo Médio"/>
          <p:cNvSpPr txBox="1"/>
          <p:nvPr/>
        </p:nvSpPr>
        <p:spPr>
          <a:xfrm>
            <a:off x="1206500" y="2350105"/>
            <a:ext cx="4781677" cy="944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/>
            </a:lvl1pPr>
          </a:lstStyle>
          <a:p>
            <a:pPr/>
            <a:r>
              <a:t>Campo Médio</a:t>
            </a:r>
          </a:p>
        </p:txBody>
      </p:sp>
      <p:sp>
        <p:nvSpPr>
          <p:cNvPr id="196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Equações"/>
          <p:cNvSpPr txBox="1"/>
          <p:nvPr>
            <p:ph type="title"/>
          </p:nvPr>
        </p:nvSpPr>
        <p:spPr>
          <a:xfrm>
            <a:off x="1206500" y="1079972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199" name="Essas equações contém todas as propriedades do Campo Médio."/>
          <p:cNvSpPr txBox="1"/>
          <p:nvPr/>
        </p:nvSpPr>
        <p:spPr>
          <a:xfrm>
            <a:off x="2898347" y="3961024"/>
            <a:ext cx="16218856" cy="146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Essas equações contém todas as propriedades do Campo Médio.</a:t>
            </a:r>
          </a:p>
        </p:txBody>
      </p:sp>
      <p:pic>
        <p:nvPicPr>
          <p:cNvPr id="200" name="magnetizacao.png" descr="magnetizaca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007774" y="7518180"/>
            <a:ext cx="8109429" cy="5019048"/>
          </a:xfrm>
          <a:prstGeom prst="rect">
            <a:avLst/>
          </a:prstGeom>
          <a:ln w="12700">
            <a:miter lim="400000"/>
          </a:ln>
        </p:spPr>
      </p:pic>
      <p:sp>
        <p:nvSpPr>
          <p:cNvPr id="201" name="Campo Médio"/>
          <p:cNvSpPr txBox="1"/>
          <p:nvPr/>
        </p:nvSpPr>
        <p:spPr>
          <a:xfrm>
            <a:off x="1206500" y="2350105"/>
            <a:ext cx="4781677" cy="944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/>
            </a:lvl1pPr>
          </a:lstStyle>
          <a:p>
            <a:pPr/>
            <a:r>
              <a:t>Campo Médio</a:t>
            </a:r>
          </a:p>
        </p:txBody>
      </p:sp>
      <p:pic>
        <p:nvPicPr>
          <p:cNvPr id="202" name="pressao.png" descr="pressa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98347" y="7518180"/>
            <a:ext cx="8108730" cy="5019048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Equações"/>
          <p:cNvSpPr txBox="1"/>
          <p:nvPr>
            <p:ph type="title"/>
          </p:nvPr>
        </p:nvSpPr>
        <p:spPr>
          <a:xfrm>
            <a:off x="1206500" y="1079972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206" name="Inclusive as anomalias do Campo Médio:"/>
          <p:cNvSpPr txBox="1"/>
          <p:nvPr/>
        </p:nvSpPr>
        <p:spPr>
          <a:xfrm>
            <a:off x="2898347" y="3866412"/>
            <a:ext cx="1621885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Inclusive as anomalias do Campo Médio:</a:t>
            </a:r>
          </a:p>
        </p:txBody>
      </p:sp>
      <p:sp>
        <p:nvSpPr>
          <p:cNvPr id="207" name="Campo Médio"/>
          <p:cNvSpPr txBox="1"/>
          <p:nvPr/>
        </p:nvSpPr>
        <p:spPr>
          <a:xfrm>
            <a:off x="1206500" y="2350105"/>
            <a:ext cx="4781677" cy="944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/>
            </a:lvl1pPr>
          </a:lstStyle>
          <a:p>
            <a:pPr/>
            <a:r>
              <a:t>Campo Médio</a:t>
            </a:r>
          </a:p>
        </p:txBody>
      </p:sp>
      <p:pic>
        <p:nvPicPr>
          <p:cNvPr id="208" name="energialivre.png" descr="energialivr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98347" y="5626417"/>
            <a:ext cx="9194801" cy="5689601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Usamos:"/>
          <p:cNvSpPr txBox="1"/>
          <p:nvPr/>
        </p:nvSpPr>
        <p:spPr>
          <a:xfrm>
            <a:off x="14056673" y="5626417"/>
            <a:ext cx="253075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Usamos:</a:t>
            </a:r>
          </a:p>
        </p:txBody>
      </p:sp>
      <p:sp>
        <p:nvSpPr>
          <p:cNvPr id="210" name="Equation"/>
          <p:cNvSpPr txBox="1"/>
          <p:nvPr/>
        </p:nvSpPr>
        <p:spPr>
          <a:xfrm>
            <a:off x="14056673" y="6858000"/>
            <a:ext cx="3481798" cy="75041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211" name="Equation"/>
          <p:cNvSpPr txBox="1"/>
          <p:nvPr/>
        </p:nvSpPr>
        <p:spPr>
          <a:xfrm>
            <a:off x="14056673" y="8892288"/>
            <a:ext cx="6283148" cy="112355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sup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ϕ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2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215" name="Alcance Finito"/>
          <p:cNvSpPr txBox="1"/>
          <p:nvPr>
            <p:ph type="body" idx="13"/>
          </p:nvPr>
        </p:nvSpPr>
        <p:spPr>
          <a:xfrm>
            <a:off x="1206500" y="6390610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Alcance Finito</a:t>
            </a:r>
          </a:p>
        </p:txBody>
      </p:sp>
      <p:sp>
        <p:nvSpPr>
          <p:cNvPr id="2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219" name="Alcance Finit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Alcance Finito</a:t>
            </a:r>
          </a:p>
        </p:txBody>
      </p:sp>
      <p:sp>
        <p:nvSpPr>
          <p:cNvPr id="220" name="A magnetização à volume finito,  , do modelo com spins   e Hamiltoniano"/>
          <p:cNvSpPr txBox="1"/>
          <p:nvPr/>
        </p:nvSpPr>
        <p:spPr>
          <a:xfrm>
            <a:off x="2898347" y="3396329"/>
            <a:ext cx="16218856" cy="1748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A magnetização à volume finito, </a:t>
            </a:r>
            <a14:m>
              <m:oMath>
                <m:r>
                  <a:rPr xmlns:a="http://schemas.openxmlformats.org/drawingml/2006/main" sz="6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m</m:t>
                </m:r>
              </m:oMath>
            </a14:m>
            <a:r>
              <a:t>, do modelo com spins </a:t>
            </a:r>
            <a14:m>
              <m:oMath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σ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:</m:t>
                </m:r>
                <m:r>
                  <m:rPr>
                    <m:sty m:val="p"/>
                  </m:rP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Λ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→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{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1,1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}</m:t>
                </m:r>
              </m:oMath>
            </a14:m>
            <a:r>
              <a:t> e Hamiltoniano</a:t>
            </a:r>
          </a:p>
        </p:txBody>
      </p:sp>
      <p:sp>
        <p:nvSpPr>
          <p:cNvPr id="221" name="Equation"/>
          <p:cNvSpPr txBox="1"/>
          <p:nvPr/>
        </p:nvSpPr>
        <p:spPr>
          <a:xfrm>
            <a:off x="7441296" y="6017432"/>
            <a:ext cx="9501408" cy="16782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σ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J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222" name="Satisfaz a equação"/>
          <p:cNvSpPr txBox="1"/>
          <p:nvPr/>
        </p:nvSpPr>
        <p:spPr>
          <a:xfrm>
            <a:off x="2898347" y="8577522"/>
            <a:ext cx="5295291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Satisfaz a equação</a:t>
            </a:r>
          </a:p>
        </p:txBody>
      </p:sp>
      <p:sp>
        <p:nvSpPr>
          <p:cNvPr id="223" name="Equation"/>
          <p:cNvSpPr txBox="1"/>
          <p:nvPr/>
        </p:nvSpPr>
        <p:spPr>
          <a:xfrm>
            <a:off x="7441296" y="10267834"/>
            <a:ext cx="10038196" cy="167699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J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J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0.</m:t>
                  </m:r>
                </m:oMath>
              </m:oMathPara>
            </a14:m>
            <a:endParaRPr sz="4800"/>
          </a:p>
        </p:txBody>
      </p:sp>
      <p:sp>
        <p:nvSpPr>
          <p:cNvPr id="2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227" name="Alcance Finit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Alcance Finito</a:t>
            </a:r>
          </a:p>
        </p:txBody>
      </p:sp>
      <p:sp>
        <p:nvSpPr>
          <p:cNvPr id="228" name="Se  , então,        ;…"/>
          <p:cNvSpPr txBox="1"/>
          <p:nvPr/>
        </p:nvSpPr>
        <p:spPr>
          <a:xfrm>
            <a:off x="4082572" y="5559957"/>
            <a:ext cx="16218856" cy="2596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609600" indent="-609600">
              <a:buSzPct val="123000"/>
              <a:buChar char="•"/>
            </a:pPr>
            <a:r>
              <a:t>Se </a:t>
            </a:r>
            <a14:m>
              <m:oMath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≤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t>, então, </a:t>
            </a:r>
            <a14:m>
              <m:oMath>
                <m:sSub>
                  <m:e>
                    <m:r>
                      <a:rPr xmlns:a="http://schemas.openxmlformats.org/drawingml/2006/main" sz="5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u</m:t>
                    </m:r>
                  </m:e>
                  <m:sub>
                    <m:r>
                      <a:rPr xmlns:a="http://schemas.openxmlformats.org/drawingml/2006/main" sz="5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sub>
                </m:sSub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≥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t>  </a:t>
            </a:r>
            <a14:m>
              <m:oMath>
                <m:r>
                  <a:rPr xmlns:a="http://schemas.openxmlformats.org/drawingml/2006/main" sz="6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⇒</m:t>
                </m:r>
              </m:oMath>
            </a14:m>
            <a:r>
              <a:t>  </a:t>
            </a:r>
            <a14:m>
              <m:oMath>
                <m:sSub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β</m:t>
                    </m:r>
                  </m:sub>
                </m:sSub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J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m</m:t>
                </m:r>
                <m:sSub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sub>
                </m:sSub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≥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t>;</a:t>
            </a:r>
          </a:p>
          <a:p>
            <a:pPr marL="609600" indent="-609600">
              <a:buSzPct val="123000"/>
              <a:buChar char="•"/>
            </a:pPr>
            <a:r>
              <a:t>Se </a:t>
            </a:r>
            <a14:m>
              <m:oMath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≥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t>, então, </a:t>
            </a:r>
            <a14:m>
              <m:oMath>
                <m:sSub>
                  <m:e>
                    <m:r>
                      <a:rPr xmlns:a="http://schemas.openxmlformats.org/drawingml/2006/main" sz="5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u</m:t>
                    </m:r>
                  </m:e>
                  <m:sub>
                    <m:r>
                      <a:rPr xmlns:a="http://schemas.openxmlformats.org/drawingml/2006/main" sz="5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sub>
                </m:sSub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≤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t>  </a:t>
            </a:r>
            <a14:m>
              <m:oMath>
                <m:r>
                  <a:rPr xmlns:a="http://schemas.openxmlformats.org/drawingml/2006/main" sz="6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⇒</m:t>
                </m:r>
              </m:oMath>
            </a14:m>
            <a:r>
              <a:t>  </a:t>
            </a:r>
            <a14:m>
              <m:oMath>
                <m:sSub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β</m:t>
                    </m:r>
                  </m:sub>
                </m:sSub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J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m</m:t>
                </m:r>
                <m:sSub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sub>
                </m:sSub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≤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t>.</a:t>
            </a:r>
          </a:p>
        </p:txBody>
      </p:sp>
      <p:sp>
        <p:nvSpPr>
          <p:cNvPr id="2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232" name="Alcance Finit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Alcance Finito</a:t>
            </a:r>
          </a:p>
        </p:txBody>
      </p:sp>
      <p:sp>
        <p:nvSpPr>
          <p:cNvPr id="233" name="Seja   a magnetização do CM com"/>
          <p:cNvSpPr txBox="1"/>
          <p:nvPr/>
        </p:nvSpPr>
        <p:spPr>
          <a:xfrm>
            <a:off x="2895600" y="3625467"/>
            <a:ext cx="9870422" cy="959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Seja </a:t>
            </a:r>
            <a14:m>
              <m:oMath>
                <m:bar>
                  <m:barPr>
                    <m:ctrlPr>
                      <a:rPr xmlns:a="http://schemas.openxmlformats.org/drawingml/2006/main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</m:bar>
              </m:oMath>
            </a14:m>
            <a:r>
              <a:t> a magnetização do CM com</a:t>
            </a:r>
          </a:p>
        </p:txBody>
      </p:sp>
      <p:sp>
        <p:nvSpPr>
          <p:cNvPr id="234" name="Equation"/>
          <p:cNvSpPr txBox="1"/>
          <p:nvPr/>
        </p:nvSpPr>
        <p:spPr>
          <a:xfrm>
            <a:off x="10772783" y="5280593"/>
            <a:ext cx="2838434" cy="134692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J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J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4800"/>
          </a:p>
        </p:txBody>
      </p:sp>
      <p:sp>
        <p:nvSpPr>
          <p:cNvPr id="235" name="Podemos relacionar   com  ."/>
          <p:cNvSpPr txBox="1"/>
          <p:nvPr/>
        </p:nvSpPr>
        <p:spPr>
          <a:xfrm>
            <a:off x="2895599" y="6782486"/>
            <a:ext cx="8494638" cy="9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Podemos relacionar </a:t>
            </a:r>
            <a14:m>
              <m:oMath>
                <m:r>
                  <a:rPr xmlns:a="http://schemas.openxmlformats.org/drawingml/2006/main" sz="6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m</m:t>
                </m:r>
              </m:oMath>
            </a14:m>
            <a:r>
              <a:t> com </a:t>
            </a:r>
            <a14:m>
              <m:oMath>
                <m:bar>
                  <m:barPr>
                    <m:ctrlPr>
                      <a:rPr xmlns:a="http://schemas.openxmlformats.org/drawingml/2006/main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</m:bar>
              </m:oMath>
            </a14:m>
            <a:r>
              <a:t>.</a:t>
            </a:r>
          </a:p>
        </p:txBody>
      </p:sp>
      <p:sp>
        <p:nvSpPr>
          <p:cNvPr id="23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239" name="Alcance Finito — Bounds pelo CM"/>
          <p:cNvSpPr txBox="1"/>
          <p:nvPr>
            <p:ph type="body" idx="13"/>
          </p:nvPr>
        </p:nvSpPr>
        <p:spPr>
          <a:xfrm>
            <a:off x="1206500" y="6390610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Alcance Finito — Bounds pelo CM</a:t>
            </a:r>
          </a:p>
        </p:txBody>
      </p:sp>
      <p:sp>
        <p:nvSpPr>
          <p:cNvPr id="2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243" name="Alcance Finito — Bounds pelo CM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Alcance Finito — Bounds pelo CM</a:t>
            </a:r>
          </a:p>
        </p:txBody>
      </p:sp>
      <p:sp>
        <p:nvSpPr>
          <p:cNvPr id="244" name="Podemos relacionar   com  : sejam   e  , então"/>
          <p:cNvSpPr txBox="1"/>
          <p:nvPr/>
        </p:nvSpPr>
        <p:spPr>
          <a:xfrm>
            <a:off x="2895600" y="4041973"/>
            <a:ext cx="17083639" cy="964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Podemos relacionar </a:t>
            </a:r>
            <a14:m>
              <m:oMath>
                <m:r>
                  <a:rPr xmlns:a="http://schemas.openxmlformats.org/drawingml/2006/main" sz="6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m</m:t>
                </m:r>
              </m:oMath>
            </a14:m>
            <a:r>
              <a:t> com </a:t>
            </a:r>
            <a14:m>
              <m:oMath>
                <m:bar>
                  <m:barPr>
                    <m:ctrlPr>
                      <a:rPr xmlns:a="http://schemas.openxmlformats.org/drawingml/2006/main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</m:bar>
              </m:oMath>
            </a14:m>
            <a:r>
              <a:t>: sejam </a:t>
            </a:r>
            <a14:m>
              <m:oMath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</m:oMath>
            </a14:m>
            <a:r>
              <a:t> e </a:t>
            </a:r>
            <a14:m>
              <m:oMath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β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J</m:t>
                </m:r>
              </m:oMath>
            </a14:m>
            <a:r>
              <a:t>, então</a:t>
            </a:r>
          </a:p>
        </p:txBody>
      </p:sp>
      <p:sp>
        <p:nvSpPr>
          <p:cNvPr id="245" name="Equation"/>
          <p:cNvSpPr txBox="1"/>
          <p:nvPr/>
        </p:nvSpPr>
        <p:spPr>
          <a:xfrm>
            <a:off x="2895600" y="5921282"/>
            <a:ext cx="3845351" cy="65365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J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0,</m:t>
                  </m:r>
                </m:oMath>
              </m:oMathPara>
            </a14:m>
            <a:endParaRPr sz="4800"/>
          </a:p>
        </p:txBody>
      </p:sp>
      <p:sp>
        <p:nvSpPr>
          <p:cNvPr id="246" name="Equation"/>
          <p:cNvSpPr txBox="1"/>
          <p:nvPr/>
        </p:nvSpPr>
        <p:spPr>
          <a:xfrm>
            <a:off x="2895600" y="6858000"/>
            <a:ext cx="4377674" cy="52486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tanh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247" name="Equation"/>
          <p:cNvSpPr txBox="1"/>
          <p:nvPr/>
        </p:nvSpPr>
        <p:spPr>
          <a:xfrm>
            <a:off x="12192000" y="5921282"/>
            <a:ext cx="3920903" cy="65365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bar>
                        <m:bar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</m:ba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J</m:t>
                  </m:r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</m:bar>
                  <m:sSub>
                    <m:e>
                      <m:bar>
                        <m:bar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</m:ba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0,</m:t>
                  </m:r>
                </m:oMath>
              </m:oMathPara>
            </a14:m>
            <a:endParaRPr sz="4800"/>
          </a:p>
        </p:txBody>
      </p:sp>
      <p:sp>
        <p:nvSpPr>
          <p:cNvPr id="248" name="Equation"/>
          <p:cNvSpPr txBox="1"/>
          <p:nvPr/>
        </p:nvSpPr>
        <p:spPr>
          <a:xfrm>
            <a:off x="12192000" y="6858000"/>
            <a:ext cx="4384989" cy="52486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</m:ba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tanh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249" name="Equation"/>
          <p:cNvSpPr txBox="1"/>
          <p:nvPr/>
        </p:nvSpPr>
        <p:spPr>
          <a:xfrm>
            <a:off x="17504429" y="6811883"/>
            <a:ext cx="6327408" cy="57098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</m:ba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250" name="Equation"/>
          <p:cNvSpPr txBox="1"/>
          <p:nvPr/>
        </p:nvSpPr>
        <p:spPr>
          <a:xfrm>
            <a:off x="2895600" y="8791374"/>
            <a:ext cx="2188600" cy="52974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ξ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ξ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251" name="Equation"/>
          <p:cNvSpPr txBox="1"/>
          <p:nvPr/>
        </p:nvSpPr>
        <p:spPr>
          <a:xfrm>
            <a:off x="2895600" y="10547108"/>
            <a:ext cx="5160295" cy="57525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ξ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ξ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252" name="Equation"/>
          <p:cNvSpPr txBox="1"/>
          <p:nvPr/>
        </p:nvSpPr>
        <p:spPr>
          <a:xfrm>
            <a:off x="2895600" y="9763424"/>
            <a:ext cx="1407093" cy="41940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253" name="Equation"/>
          <p:cNvSpPr txBox="1"/>
          <p:nvPr/>
        </p:nvSpPr>
        <p:spPr>
          <a:xfrm>
            <a:off x="2895600" y="11564665"/>
            <a:ext cx="5826859" cy="57525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ξ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ξ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ξ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254" name="Equation"/>
          <p:cNvSpPr txBox="1"/>
          <p:nvPr/>
        </p:nvSpPr>
        <p:spPr>
          <a:xfrm>
            <a:off x="12192000" y="8709224"/>
            <a:ext cx="2206888" cy="61189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ξ</m:t>
                      </m:r>
                    </m:e>
                  </m:ba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ξ</m:t>
                      </m:r>
                    </m:e>
                  </m:ba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255" name="Equation"/>
          <p:cNvSpPr txBox="1"/>
          <p:nvPr/>
        </p:nvSpPr>
        <p:spPr>
          <a:xfrm>
            <a:off x="12192000" y="9763424"/>
            <a:ext cx="1407093" cy="41940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256" name="Equation"/>
          <p:cNvSpPr txBox="1"/>
          <p:nvPr/>
        </p:nvSpPr>
        <p:spPr>
          <a:xfrm>
            <a:off x="12192000" y="10464958"/>
            <a:ext cx="5167610" cy="65740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</m:ba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ξ</m:t>
                      </m:r>
                    </m:e>
                  </m:ba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ξ</m:t>
                      </m:r>
                    </m:e>
                  </m:ba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257" name="Equation"/>
          <p:cNvSpPr txBox="1"/>
          <p:nvPr/>
        </p:nvSpPr>
        <p:spPr>
          <a:xfrm>
            <a:off x="12192000" y="11523590"/>
            <a:ext cx="5845146" cy="65740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ξ</m:t>
                      </m:r>
                    </m:e>
                  </m:ba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ξ</m:t>
                      </m:r>
                    </m:e>
                  </m:ba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ξ</m:t>
                      </m:r>
                    </m:e>
                  </m:ba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2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261" name="Alcance Finito — Bounds pelo CM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Alcance Finito — Bounds pelo CM</a:t>
            </a:r>
          </a:p>
        </p:txBody>
      </p:sp>
      <p:sp>
        <p:nvSpPr>
          <p:cNvPr id="262" name="Equation"/>
          <p:cNvSpPr txBox="1"/>
          <p:nvPr/>
        </p:nvSpPr>
        <p:spPr>
          <a:xfrm>
            <a:off x="2895600" y="4126920"/>
            <a:ext cx="7238337" cy="57525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ξ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tanh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≥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</m:t>
                  </m:r>
                </m:oMath>
              </m:oMathPara>
            </a14:m>
            <a:endParaRPr sz="4800"/>
          </a:p>
        </p:txBody>
      </p:sp>
      <p:sp>
        <p:nvSpPr>
          <p:cNvPr id="263" name="Equation"/>
          <p:cNvSpPr txBox="1"/>
          <p:nvPr/>
        </p:nvSpPr>
        <p:spPr>
          <a:xfrm>
            <a:off x="2895600" y="6202070"/>
            <a:ext cx="9776198" cy="131186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den>
                  </m:f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num>
                    <m:den>
                      <m:bar>
                        <m:bar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</m:ba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ξ</m:t>
                      </m:r>
                    </m:e>
                  </m:ba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bar>
                        <m:bar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</m:bar>
                    </m:num>
                    <m:den>
                      <m:sSup>
                        <m:e>
                          <m:bar>
                            <m:barPr>
                              <m:ctrlPr>
                                <a:rPr xmlns:a="http://schemas.openxmlformats.org/drawingml/2006/main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  <m:pos m:val="top"/>
                            </m:barPr>
                            <m:e>
                              <m:r>
                                <a:rPr xmlns:a="http://schemas.openxmlformats.org/drawingml/2006/main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</m:ba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ξ</m:t>
                      </m:r>
                    </m:e>
                  </m:ba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</m:t>
                  </m:r>
                </m:oMath>
              </m:oMathPara>
            </a14:m>
            <a:endParaRPr sz="4800"/>
          </a:p>
        </p:txBody>
      </p:sp>
      <p:sp>
        <p:nvSpPr>
          <p:cNvPr id="264" name="Equation"/>
          <p:cNvSpPr txBox="1"/>
          <p:nvPr/>
        </p:nvSpPr>
        <p:spPr>
          <a:xfrm>
            <a:off x="13486716" y="6735723"/>
            <a:ext cx="491948" cy="3639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⇒</m:t>
                  </m:r>
                </m:oMath>
              </m:oMathPara>
            </a14:m>
            <a:endParaRPr sz="4800"/>
          </a:p>
        </p:txBody>
      </p:sp>
      <p:sp>
        <p:nvSpPr>
          <p:cNvPr id="265" name="Equation"/>
          <p:cNvSpPr txBox="1"/>
          <p:nvPr/>
        </p:nvSpPr>
        <p:spPr>
          <a:xfrm>
            <a:off x="14793582" y="6079793"/>
            <a:ext cx="7293052" cy="155641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num>
                    <m:den>
                      <m:bar>
                        <m:bar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</m:ba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ξ</m:t>
                      </m:r>
                    </m:e>
                  </m:ba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0,</m:t>
                      </m:r>
                      <m:bar>
                        <m:bar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ξ</m:t>
                          </m:r>
                        </m:e>
                      </m:ba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bar>
                        <m:bar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ξ</m:t>
                          </m:r>
                        </m:e>
                      </m:ba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</m:t>
                  </m:r>
                </m:oMath>
              </m:oMathPara>
            </a14:m>
            <a:endParaRPr sz="4800"/>
          </a:p>
        </p:txBody>
      </p:sp>
      <p:sp>
        <p:nvSpPr>
          <p:cNvPr id="266" name="Equation"/>
          <p:cNvSpPr txBox="1"/>
          <p:nvPr/>
        </p:nvSpPr>
        <p:spPr>
          <a:xfrm>
            <a:off x="2895600" y="9010905"/>
            <a:ext cx="491948" cy="3639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⇒</m:t>
                  </m:r>
                </m:oMath>
              </m:oMathPara>
            </a14:m>
            <a:endParaRPr sz="4800"/>
          </a:p>
        </p:txBody>
      </p:sp>
      <p:sp>
        <p:nvSpPr>
          <p:cNvPr id="267" name="Equation"/>
          <p:cNvSpPr txBox="1"/>
          <p:nvPr/>
        </p:nvSpPr>
        <p:spPr>
          <a:xfrm>
            <a:off x="4536626" y="8219699"/>
            <a:ext cx="10256956" cy="158241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num>
                    <m:den>
                      <m:bar>
                        <m:bar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</m:ba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ξ</m:t>
                      </m:r>
                    </m:e>
                  </m:ba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0,</m:t>
                      </m:r>
                      <m:bar>
                        <m:bar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ξ</m:t>
                          </m:r>
                        </m:e>
                      </m:ba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bar>
                        <m:bar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ξ</m:t>
                          </m:r>
                        </m:e>
                      </m:ba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bar>
                        <m:bar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ξ</m:t>
                          </m:r>
                        </m:e>
                      </m:ba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bar>
                        <m:bar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ξ</m:t>
                          </m:r>
                        </m:e>
                      </m:ba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</m:t>
                  </m:r>
                </m:oMath>
              </m:oMathPara>
            </a14:m>
            <a:endParaRPr sz="4800"/>
          </a:p>
        </p:txBody>
      </p:sp>
      <p:sp>
        <p:nvSpPr>
          <p:cNvPr id="268" name="Equation"/>
          <p:cNvSpPr txBox="1"/>
          <p:nvPr/>
        </p:nvSpPr>
        <p:spPr>
          <a:xfrm>
            <a:off x="4536626" y="11201551"/>
            <a:ext cx="5677341" cy="75041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ξ</m:t>
                      </m:r>
                    </m:e>
                  </m:ba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</m:ba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ξ</m:t>
                      </m:r>
                    </m:e>
                  </m:ba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269" name="Equation"/>
          <p:cNvSpPr txBox="1"/>
          <p:nvPr/>
        </p:nvSpPr>
        <p:spPr>
          <a:xfrm>
            <a:off x="3141573" y="11576760"/>
            <a:ext cx="491948" cy="3639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⇒</m:t>
                  </m:r>
                </m:oMath>
              </m:oMathPara>
            </a14:m>
            <a:endParaRPr sz="4800"/>
          </a:p>
        </p:txBody>
      </p:sp>
      <p:sp>
        <p:nvSpPr>
          <p:cNvPr id="2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273" name="Alcance Finito — Bounds pelo CM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Alcance Finito — Bounds pelo CM</a:t>
            </a:r>
          </a:p>
        </p:txBody>
      </p:sp>
      <p:sp>
        <p:nvSpPr>
          <p:cNvPr id="274" name="Então,"/>
          <p:cNvSpPr txBox="1"/>
          <p:nvPr/>
        </p:nvSpPr>
        <p:spPr>
          <a:xfrm>
            <a:off x="2895600" y="3844981"/>
            <a:ext cx="186446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Então,</a:t>
            </a:r>
          </a:p>
        </p:txBody>
      </p:sp>
      <p:sp>
        <p:nvSpPr>
          <p:cNvPr id="275" name=";…"/>
          <p:cNvSpPr txBox="1"/>
          <p:nvPr/>
        </p:nvSpPr>
        <p:spPr>
          <a:xfrm>
            <a:off x="2895600" y="5190652"/>
            <a:ext cx="16218855" cy="2320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609600" indent="-609600">
              <a:buSzPct val="123000"/>
              <a:buChar char="•"/>
            </a:pPr>
            <a14:m>
              <m:oMath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≤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t>  </a:t>
            </a:r>
            <a14:m>
              <m:oMath>
                <m:r>
                  <a:rPr xmlns:a="http://schemas.openxmlformats.org/drawingml/2006/main" sz="6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⇒</m:t>
                </m:r>
              </m:oMath>
            </a14:m>
            <a:r>
              <a:t>  </a:t>
            </a:r>
            <a14:m>
              <m:oMath>
                <m:r>
                  <a:rPr xmlns:a="http://schemas.openxmlformats.org/drawingml/2006/main" sz="5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xmlns:a="http://schemas.openxmlformats.org/drawingml/2006/main" sz="5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≥</m:t>
                </m:r>
                <m:bar>
                  <m:barPr>
                    <m:ctrlPr>
                      <a:rPr xmlns:a="http://schemas.openxmlformats.org/drawingml/2006/main"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</m:bar>
              </m:oMath>
            </a14:m>
            <a:r>
              <a:t>;</a:t>
            </a:r>
          </a:p>
          <a:p>
            <a:pPr marL="609600" indent="-609600">
              <a:buSzPct val="123000"/>
              <a:buChar char="•"/>
            </a:pPr>
            <a14:m>
              <m:oMath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≥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t>  </a:t>
            </a:r>
            <a14:m>
              <m:oMath>
                <m:r>
                  <a:rPr xmlns:a="http://schemas.openxmlformats.org/drawingml/2006/main" sz="6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⇒</m:t>
                </m:r>
              </m:oMath>
            </a14:m>
            <a:r>
              <a:t>  </a:t>
            </a:r>
            <a14:m>
              <m:oMath>
                <m:r>
                  <a:rPr xmlns:a="http://schemas.openxmlformats.org/drawingml/2006/main" sz="5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xmlns:a="http://schemas.openxmlformats.org/drawingml/2006/main" sz="5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≤</m:t>
                </m:r>
                <m:bar>
                  <m:barPr>
                    <m:ctrlPr>
                      <a:rPr xmlns:a="http://schemas.openxmlformats.org/drawingml/2006/main"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</m:bar>
              </m:oMath>
            </a14:m>
            <a:r>
              <a:t>.</a:t>
            </a:r>
          </a:p>
        </p:txBody>
      </p:sp>
      <p:sp>
        <p:nvSpPr>
          <p:cNvPr id="276" name="Resultado já conhecido, mas no nosso método a prova é mais simples."/>
          <p:cNvSpPr txBox="1"/>
          <p:nvPr/>
        </p:nvSpPr>
        <p:spPr>
          <a:xfrm>
            <a:off x="2895600" y="8908523"/>
            <a:ext cx="16218855" cy="146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Resultado já conhecido, mas no nosso método a prova é mais simples.</a:t>
            </a:r>
          </a:p>
        </p:txBody>
      </p:sp>
      <p:sp>
        <p:nvSpPr>
          <p:cNvPr id="2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280" name="Yukawa-Kac"/>
          <p:cNvSpPr txBox="1"/>
          <p:nvPr>
            <p:ph type="body" idx="13"/>
          </p:nvPr>
        </p:nvSpPr>
        <p:spPr>
          <a:xfrm>
            <a:off x="1206500" y="6390610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</a:t>
            </a:r>
          </a:p>
        </p:txBody>
      </p:sp>
      <p:sp>
        <p:nvSpPr>
          <p:cNvPr id="2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284" name="Yukawa-Kac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</a:t>
            </a:r>
          </a:p>
        </p:txBody>
      </p:sp>
      <p:sp>
        <p:nvSpPr>
          <p:cNvPr id="285" name="Potencial tipo Kac:"/>
          <p:cNvSpPr txBox="1"/>
          <p:nvPr/>
        </p:nvSpPr>
        <p:spPr>
          <a:xfrm>
            <a:off x="2895600" y="3728962"/>
            <a:ext cx="525140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Potencial tipo Kac:</a:t>
            </a:r>
          </a:p>
        </p:txBody>
      </p:sp>
      <p:sp>
        <p:nvSpPr>
          <p:cNvPr id="286" name="Equation"/>
          <p:cNvSpPr txBox="1"/>
          <p:nvPr/>
        </p:nvSpPr>
        <p:spPr>
          <a:xfrm>
            <a:off x="9673185" y="5212810"/>
            <a:ext cx="5444820" cy="76316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: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J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287" name="Tem o seguinte formato:"/>
          <p:cNvSpPr txBox="1"/>
          <p:nvPr/>
        </p:nvSpPr>
        <p:spPr>
          <a:xfrm>
            <a:off x="15319027" y="6857999"/>
            <a:ext cx="6708954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Tem o seguinte formato:</a:t>
            </a:r>
          </a:p>
        </p:txBody>
      </p:sp>
      <p:pic>
        <p:nvPicPr>
          <p:cNvPr id="288" name="potenciaiskac.png" descr="potenciaiskac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319027" y="8037142"/>
            <a:ext cx="7858473" cy="4859691"/>
          </a:xfrm>
          <a:prstGeom prst="rect">
            <a:avLst/>
          </a:prstGeom>
          <a:ln w="12700">
            <a:miter lim="400000"/>
          </a:ln>
        </p:spPr>
      </p:pic>
      <p:sp>
        <p:nvSpPr>
          <p:cNvPr id="289" name="Deve satisfazer:"/>
          <p:cNvSpPr txBox="1"/>
          <p:nvPr/>
        </p:nvSpPr>
        <p:spPr>
          <a:xfrm>
            <a:off x="2895599" y="6857999"/>
            <a:ext cx="4436975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Deve satisfazer:</a:t>
            </a:r>
          </a:p>
        </p:txBody>
      </p:sp>
      <p:sp>
        <p:nvSpPr>
          <p:cNvPr id="290" name=";…"/>
          <p:cNvSpPr txBox="1"/>
          <p:nvPr/>
        </p:nvSpPr>
        <p:spPr>
          <a:xfrm>
            <a:off x="2895600" y="8011999"/>
            <a:ext cx="6686416" cy="3159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609600" indent="-609600">
              <a:buSzPct val="123000"/>
              <a:buChar char="•"/>
            </a:pPr>
            <a14:m>
              <m:oMath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J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J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;</a:t>
            </a:r>
          </a:p>
          <a:p>
            <a:pPr marL="609600" indent="-609600">
              <a:buSzPct val="123000"/>
              <a:buChar char="•"/>
            </a:pPr>
            <a14:m>
              <m:oMath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∫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J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d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  <a:r>
              <a:t>.</a:t>
            </a:r>
          </a:p>
        </p:txBody>
      </p:sp>
      <p:sp>
        <p:nvSpPr>
          <p:cNvPr id="2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294" name="Yukawa-Kac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</a:t>
            </a:r>
          </a:p>
        </p:txBody>
      </p:sp>
      <p:sp>
        <p:nvSpPr>
          <p:cNvPr id="295" name="Potencial de Yukawa-Kac:"/>
          <p:cNvSpPr txBox="1"/>
          <p:nvPr/>
        </p:nvSpPr>
        <p:spPr>
          <a:xfrm>
            <a:off x="2895600" y="3728962"/>
            <a:ext cx="726064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Potencial de Yukawa-Kac:</a:t>
            </a:r>
          </a:p>
        </p:txBody>
      </p:sp>
      <p:sp>
        <p:nvSpPr>
          <p:cNvPr id="296" name="Equation"/>
          <p:cNvSpPr txBox="1"/>
          <p:nvPr/>
        </p:nvSpPr>
        <p:spPr>
          <a:xfrm>
            <a:off x="8387254" y="5279806"/>
            <a:ext cx="7996232" cy="76012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: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Δ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297" name="que satisfaz"/>
          <p:cNvSpPr txBox="1"/>
          <p:nvPr/>
        </p:nvSpPr>
        <p:spPr>
          <a:xfrm>
            <a:off x="2895599" y="6857999"/>
            <a:ext cx="3376271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que satisfaz</a:t>
            </a:r>
          </a:p>
        </p:txBody>
      </p:sp>
      <p:sp>
        <p:nvSpPr>
          <p:cNvPr id="298" name=";…"/>
          <p:cNvSpPr txBox="1"/>
          <p:nvPr/>
        </p:nvSpPr>
        <p:spPr>
          <a:xfrm>
            <a:off x="8387254" y="8805292"/>
            <a:ext cx="7063382" cy="3235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609600" indent="-609600">
              <a:buSzPct val="123000"/>
              <a:buChar char="•"/>
            </a:pPr>
            <a14:m>
              <m:oMath>
                <m:sSub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J</m:t>
                    </m:r>
                  </m:e>
                  <m:sub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γ</m:t>
                    </m:r>
                  </m:sub>
                </m:sSub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J</m:t>
                    </m:r>
                  </m:e>
                  <m:sub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γ</m:t>
                    </m:r>
                  </m:sub>
                </m:sSub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;</a:t>
            </a:r>
          </a:p>
          <a:p>
            <a:pPr marL="609600" indent="-609600">
              <a:buSzPct val="123000"/>
              <a:buChar char="•"/>
            </a:pPr>
            <a14:m>
              <m:oMath>
                <m:sSup>
                  <m:e>
                    <m:r>
                      <a:rPr xmlns:a="http://schemas.openxmlformats.org/drawingml/2006/main" sz="5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γ</m:t>
                    </m:r>
                  </m:e>
                  <m:sup>
                    <m:r>
                      <a:rPr xmlns:a="http://schemas.openxmlformats.org/drawingml/2006/main" sz="5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limLow>
                  <m:e>
                    <m:r>
                      <a:rPr xmlns:a="http://schemas.openxmlformats.org/drawingml/2006/main" sz="5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∑</m:t>
                    </m:r>
                  </m:e>
                  <m:lim>
                    <m:r>
                      <a:rPr xmlns:a="http://schemas.openxmlformats.org/drawingml/2006/main" sz="5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</m:lim>
                </m:limLow>
                <m:sSub>
                  <m:e>
                    <m:r>
                      <a:rPr xmlns:a="http://schemas.openxmlformats.org/drawingml/2006/main" sz="5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J</m:t>
                    </m:r>
                  </m:e>
                  <m:sub>
                    <m:r>
                      <a:rPr xmlns:a="http://schemas.openxmlformats.org/drawingml/2006/main" sz="5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γ</m:t>
                    </m:r>
                  </m:sub>
                </m:sSub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  <a:r>
              <a:t>.</a:t>
            </a:r>
          </a:p>
        </p:txBody>
      </p:sp>
      <p:sp>
        <p:nvSpPr>
          <p:cNvPr id="2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302" name="Yukawa-Kac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</a:t>
            </a:r>
          </a:p>
        </p:txBody>
      </p:sp>
      <p:sp>
        <p:nvSpPr>
          <p:cNvPr id="303" name="Podemos aproximar Y-K do CM tomando  , de modo que…"/>
          <p:cNvSpPr txBox="1"/>
          <p:nvPr/>
        </p:nvSpPr>
        <p:spPr>
          <a:xfrm>
            <a:off x="2895600" y="3458908"/>
            <a:ext cx="18811952" cy="3399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Podemos aproximar Y-K do CM tomando </a:t>
            </a:r>
            <a14:m>
              <m:oMath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γ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→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t>, de modo que</a:t>
            </a:r>
          </a:p>
          <a:p>
            <a:pPr/>
            <a:r>
              <a:t>o modelo (apropriado) com potencial de Y-K herda as características</a:t>
            </a:r>
          </a:p>
          <a:p>
            <a:pPr/>
            <a:r>
              <a:t>do CM.</a:t>
            </a:r>
          </a:p>
        </p:txBody>
      </p:sp>
      <p:sp>
        <p:nvSpPr>
          <p:cNvPr id="304" name="Ou seja, queremos uma desigualdade do tipo (no caso  )."/>
          <p:cNvSpPr txBox="1"/>
          <p:nvPr/>
        </p:nvSpPr>
        <p:spPr>
          <a:xfrm>
            <a:off x="2895600" y="7726946"/>
            <a:ext cx="17155952" cy="959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Ou seja, queremos uma desigualdade do tipo (no caso </a:t>
            </a:r>
            <a14:m>
              <m:oMath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≤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t>).</a:t>
            </a:r>
          </a:p>
        </p:txBody>
      </p:sp>
      <p:sp>
        <p:nvSpPr>
          <p:cNvPr id="305" name="Equation"/>
          <p:cNvSpPr txBox="1"/>
          <p:nvPr/>
        </p:nvSpPr>
        <p:spPr>
          <a:xfrm>
            <a:off x="9982335" y="9555350"/>
            <a:ext cx="4803582" cy="53827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</m:ba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</m:ba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ε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3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309" name="Yukawa-Kac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</a:t>
            </a:r>
          </a:p>
        </p:txBody>
      </p:sp>
      <p:sp>
        <p:nvSpPr>
          <p:cNvPr id="310" name="O que fazemos:…"/>
          <p:cNvSpPr txBox="1"/>
          <p:nvPr/>
        </p:nvSpPr>
        <p:spPr>
          <a:xfrm>
            <a:off x="2895600" y="3658758"/>
            <a:ext cx="19500800" cy="4482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 que fazemos:</a:t>
            </a:r>
          </a:p>
          <a:p>
            <a:pPr marL="609600" indent="-609600">
              <a:buSzPct val="123000"/>
              <a:buChar char="•"/>
            </a:pPr>
            <a:r>
              <a:t>Transformamos modelo de Ising com Y-K em modelo Gaussiano;</a:t>
            </a:r>
          </a:p>
          <a:p>
            <a:pPr marL="609600" indent="-609600">
              <a:buSzPct val="123000"/>
              <a:buChar char="•"/>
            </a:pPr>
            <a:r>
              <a:t>Técnica de Brydges et al. Para decompor em caminhadas aleatórias;</a:t>
            </a:r>
          </a:p>
          <a:p>
            <a:pPr marL="609600" indent="-609600">
              <a:buSzPct val="123000"/>
              <a:buChar char="•"/>
            </a:pPr>
            <a:r>
              <a:t> Adaptamos para Hamiltoniana com um campo externo.</a:t>
            </a:r>
          </a:p>
        </p:txBody>
      </p:sp>
      <p:sp>
        <p:nvSpPr>
          <p:cNvPr id="3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314" name="Yukawa-Kac — sine-Gordon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sine-Gordon</a:t>
            </a:r>
          </a:p>
        </p:txBody>
      </p:sp>
      <p:sp>
        <p:nvSpPr>
          <p:cNvPr id="315" name="Usando a transformação de sine-Gordon:"/>
          <p:cNvSpPr txBox="1"/>
          <p:nvPr/>
        </p:nvSpPr>
        <p:spPr>
          <a:xfrm>
            <a:off x="2895599" y="8976935"/>
            <a:ext cx="11450423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Usando a transformação de sine-Gordon:</a:t>
            </a:r>
          </a:p>
        </p:txBody>
      </p:sp>
      <p:sp>
        <p:nvSpPr>
          <p:cNvPr id="316" name="Equation"/>
          <p:cNvSpPr txBox="1"/>
          <p:nvPr/>
        </p:nvSpPr>
        <p:spPr>
          <a:xfrm>
            <a:off x="2895600" y="5426677"/>
            <a:ext cx="7958811" cy="143132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e>
                    <m:sub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σ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lim>
                  </m:limLow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317" name="Equation"/>
          <p:cNvSpPr txBox="1"/>
          <p:nvPr/>
        </p:nvSpPr>
        <p:spPr>
          <a:xfrm>
            <a:off x="2895600" y="7416690"/>
            <a:ext cx="8159335" cy="79858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μ</m:t>
                      </m:r>
                    </m:e>
                    <m:sub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σ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e>
                    <m:sub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bSup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exp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e>
                    <m:sub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σ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318" name="Sejam"/>
          <p:cNvSpPr txBox="1"/>
          <p:nvPr/>
        </p:nvSpPr>
        <p:spPr>
          <a:xfrm>
            <a:off x="2895600" y="4059555"/>
            <a:ext cx="181935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Sejam</a:t>
            </a:r>
          </a:p>
        </p:txBody>
      </p:sp>
      <p:sp>
        <p:nvSpPr>
          <p:cNvPr id="319" name="Equation"/>
          <p:cNvSpPr txBox="1"/>
          <p:nvPr/>
        </p:nvSpPr>
        <p:spPr>
          <a:xfrm>
            <a:off x="2895600" y="10927790"/>
            <a:ext cx="8282004" cy="159686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e>
                    <m:sub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∏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lim>
                  </m:limLow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cosh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ad>
                    <m:rad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degHide m:val="on"/>
                    </m:radPr>
                    <m:deg/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e>
                  </m:rad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μ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ϕ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320" name="Equation"/>
          <p:cNvSpPr txBox="1"/>
          <p:nvPr/>
        </p:nvSpPr>
        <p:spPr>
          <a:xfrm>
            <a:off x="12192000" y="11342981"/>
            <a:ext cx="5817451" cy="76647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tanh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ad>
                    <m:rad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degHide m:val="on"/>
                    </m:radPr>
                    <m:deg/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e>
                  </m:rad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3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324" name="Yukawa-Kac — Desigualdades de Correlação"/>
          <p:cNvSpPr txBox="1"/>
          <p:nvPr>
            <p:ph type="body" idx="13"/>
          </p:nvPr>
        </p:nvSpPr>
        <p:spPr>
          <a:xfrm>
            <a:off x="1206500" y="6390610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de Correlação</a:t>
            </a:r>
          </a:p>
        </p:txBody>
      </p:sp>
      <p:sp>
        <p:nvSpPr>
          <p:cNvPr id="3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328" name="Yukawa-Kac — Desigualdades de Correlaçã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de Correlação</a:t>
            </a:r>
          </a:p>
        </p:txBody>
      </p:sp>
      <p:sp>
        <p:nvSpPr>
          <p:cNvPr id="329" name="Equation"/>
          <p:cNvSpPr txBox="1"/>
          <p:nvPr/>
        </p:nvSpPr>
        <p:spPr>
          <a:xfrm>
            <a:off x="8192323" y="4939105"/>
            <a:ext cx="7999354" cy="159686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e>
                    <m:sub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∏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lim>
                  </m:limLow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cosh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ad>
                    <m:rad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degHide m:val="on"/>
                    </m:radPr>
                    <m:deg/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e>
                  </m:rad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μ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ϕ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4800"/>
          </a:p>
        </p:txBody>
      </p:sp>
      <p:sp>
        <p:nvSpPr>
          <p:cNvPr id="330" name="Para aplicar decomposição em caminhadas aleatórias o lado direito"/>
          <p:cNvSpPr txBox="1"/>
          <p:nvPr/>
        </p:nvSpPr>
        <p:spPr>
          <a:xfrm>
            <a:off x="2895600" y="3719207"/>
            <a:ext cx="18585790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Para aplicar decomposição em caminhadas aleatórias o lado direito</a:t>
            </a:r>
          </a:p>
        </p:txBody>
      </p:sp>
      <p:sp>
        <p:nvSpPr>
          <p:cNvPr id="331" name="Deve ser escrito na forma"/>
          <p:cNvSpPr txBox="1"/>
          <p:nvPr/>
        </p:nvSpPr>
        <p:spPr>
          <a:xfrm>
            <a:off x="2895600" y="7154356"/>
            <a:ext cx="710275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Deve ser escrito na forma</a:t>
            </a:r>
          </a:p>
        </p:txBody>
      </p:sp>
      <p:sp>
        <p:nvSpPr>
          <p:cNvPr id="332" name="Equation"/>
          <p:cNvSpPr txBox="1"/>
          <p:nvPr/>
        </p:nvSpPr>
        <p:spPr>
          <a:xfrm>
            <a:off x="8186091" y="9131231"/>
            <a:ext cx="8005586" cy="159686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e>
                    <m:sub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∏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g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ϕ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ϕ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333" name="e   devem ser apropriados."/>
          <p:cNvSpPr txBox="1"/>
          <p:nvPr/>
        </p:nvSpPr>
        <p:spPr>
          <a:xfrm>
            <a:off x="2895599" y="11896534"/>
            <a:ext cx="8103901" cy="965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14:m>
              <m:oMath>
                <m:r>
                  <a:rPr xmlns:a="http://schemas.openxmlformats.org/drawingml/2006/main" sz="6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g</m:t>
                </m:r>
              </m:oMath>
            </a14:m>
            <a:r>
              <a:t> e </a:t>
            </a:r>
            <a14:m>
              <m:oMath>
                <m:r>
                  <a:rPr xmlns:a="http://schemas.openxmlformats.org/drawingml/2006/main" sz="5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J</m:t>
                </m:r>
              </m:oMath>
            </a14:m>
            <a:r>
              <a:t> devem ser apropriados.</a:t>
            </a:r>
          </a:p>
        </p:txBody>
      </p:sp>
      <p:sp>
        <p:nvSpPr>
          <p:cNvPr id="3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337" name="Yukawa-Kac — Desigualdades de Correlaçã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de Correlação</a:t>
            </a:r>
          </a:p>
        </p:txBody>
      </p:sp>
      <p:sp>
        <p:nvSpPr>
          <p:cNvPr id="338" name="Para o potencial de Y-K:    se   e   se não; e"/>
          <p:cNvSpPr txBox="1"/>
          <p:nvPr/>
        </p:nvSpPr>
        <p:spPr>
          <a:xfrm>
            <a:off x="2895600" y="3640748"/>
            <a:ext cx="18261137" cy="965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Para o potencial de Y-K:  </a:t>
            </a:r>
            <a14:m>
              <m:oMath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J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</m:t>
                </m:r>
              </m:oMath>
            </a14:m>
            <a:r>
              <a:t> se </a:t>
            </a:r>
            <a14:m>
              <m:oMath>
                <m:r>
                  <a:rPr xmlns:a="http://schemas.openxmlformats.org/drawingml/2006/main" sz="62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62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62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62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xmlns:a="http://schemas.openxmlformats.org/drawingml/2006/main" sz="62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62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62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  <a:r>
              <a:t> e </a:t>
            </a:r>
            <a14:m>
              <m:oMath>
                <m:r>
                  <a:rPr xmlns:a="http://schemas.openxmlformats.org/drawingml/2006/main" sz="6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t> se não; e</a:t>
            </a:r>
          </a:p>
        </p:txBody>
      </p:sp>
      <p:sp>
        <p:nvSpPr>
          <p:cNvPr id="339" name="Para aplicar o método devemos escrever   como sua transformada"/>
          <p:cNvSpPr txBox="1"/>
          <p:nvPr/>
        </p:nvSpPr>
        <p:spPr>
          <a:xfrm>
            <a:off x="2895600" y="6817745"/>
            <a:ext cx="18491895" cy="217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Para aplicar o método devemos escrever </a:t>
            </a:r>
            <a14:m>
              <m:oMath>
                <m:r>
                  <a:rPr xmlns:a="http://schemas.openxmlformats.org/drawingml/2006/main" sz="6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g</m:t>
                </m:r>
              </m:oMath>
            </a14:m>
            <a:r>
              <a:t> como sua transformada</a:t>
            </a:r>
          </a:p>
        </p:txBody>
      </p:sp>
      <p:sp>
        <p:nvSpPr>
          <p:cNvPr id="340" name="Equation"/>
          <p:cNvSpPr txBox="1"/>
          <p:nvPr/>
        </p:nvSpPr>
        <p:spPr>
          <a:xfrm>
            <a:off x="4752297" y="5177370"/>
            <a:ext cx="14879406" cy="140571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g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ϕ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exp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[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ϕ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log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cosh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ad>
                    <m:rad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degHide m:val="on"/>
                    </m:radPr>
                    <m:deg/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e>
                  </m:rad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]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341" name="Equation"/>
          <p:cNvSpPr txBox="1"/>
          <p:nvPr/>
        </p:nvSpPr>
        <p:spPr>
          <a:xfrm>
            <a:off x="2895600" y="9239808"/>
            <a:ext cx="5704230" cy="148161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g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limUp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̂</m:t>
                      </m:r>
                    </m:lim>
                  </m:limUp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342" name="onde"/>
          <p:cNvSpPr txBox="1"/>
          <p:nvPr/>
        </p:nvSpPr>
        <p:spPr>
          <a:xfrm>
            <a:off x="8791414" y="9576397"/>
            <a:ext cx="149199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onde</a:t>
            </a:r>
          </a:p>
        </p:txBody>
      </p:sp>
      <p:sp>
        <p:nvSpPr>
          <p:cNvPr id="343" name="Equation"/>
          <p:cNvSpPr txBox="1"/>
          <p:nvPr/>
        </p:nvSpPr>
        <p:spPr>
          <a:xfrm>
            <a:off x="11140719" y="9713304"/>
            <a:ext cx="8490984" cy="53462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{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∈</m:t>
                  </m:r>
                  <m:r>
                    <m:rPr>
                      <m:sty m:val="p"/>
                      <m:scr m:val="double-struck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: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ℑ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&gt;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}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344" name="A escolha do   deve ser apropriada; e é possível."/>
          <p:cNvSpPr txBox="1"/>
          <p:nvPr/>
        </p:nvSpPr>
        <p:spPr>
          <a:xfrm>
            <a:off x="2895600" y="11203767"/>
            <a:ext cx="13504364" cy="959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 escolha do </a:t>
            </a:r>
            <a14:m>
              <m:oMath>
                <m:r>
                  <a:rPr xmlns:a="http://schemas.openxmlformats.org/drawingml/2006/main" sz="65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c</m:t>
                </m:r>
              </m:oMath>
            </a14:m>
            <a:r>
              <a:t> deve ser apropriada; e é possível.</a:t>
            </a:r>
          </a:p>
        </p:txBody>
      </p:sp>
      <p:sp>
        <p:nvSpPr>
          <p:cNvPr id="345" name="de Fourier"/>
          <p:cNvSpPr txBox="1"/>
          <p:nvPr/>
        </p:nvSpPr>
        <p:spPr>
          <a:xfrm>
            <a:off x="2895600" y="7669181"/>
            <a:ext cx="288005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de Fourier</a:t>
            </a:r>
          </a:p>
        </p:txBody>
      </p:sp>
      <p:sp>
        <p:nvSpPr>
          <p:cNvPr id="3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349" name="Yukawa-Kac — Desigualdades de Correlaçã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de Correlação</a:t>
            </a:r>
          </a:p>
        </p:txBody>
      </p:sp>
      <p:sp>
        <p:nvSpPr>
          <p:cNvPr id="350" name="Se expandirmos   em Taylor, usando   como"/>
          <p:cNvSpPr txBox="1"/>
          <p:nvPr/>
        </p:nvSpPr>
        <p:spPr>
          <a:xfrm>
            <a:off x="2895600" y="3580136"/>
            <a:ext cx="17073780" cy="1086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Se expandirmos </a:t>
            </a:r>
            <a14:m>
              <m:oMath>
                <m:r>
                  <m:rPr>
                    <m:sty m:val="p"/>
                  </m:rP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log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m:rPr>
                    <m:sty m:val="p"/>
                  </m:rP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cosh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γ</m:t>
                </m:r>
                <m:rad>
                  <m:radPr>
                    <m:ctrlPr>
                      <a:rPr xmlns:a="http://schemas.openxmlformats.org/drawingml/2006/main" sz="5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degHide m:val="on"/>
                  </m:radPr>
                  <m:deg/>
                  <m:e>
                    <m:r>
                      <a:rPr xmlns:a="http://schemas.openxmlformats.org/drawingml/2006/main" sz="5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β</m:t>
                    </m:r>
                  </m:e>
                </m:rad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ϕ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em Taylor, usando </a:t>
            </a:r>
            <a14:m>
              <m:oMath>
                <m:r>
                  <a:rPr xmlns:a="http://schemas.openxmlformats.org/drawingml/2006/main" sz="5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γ</m:t>
                </m:r>
              </m:oMath>
            </a14:m>
            <a:r>
              <a:t> como</a:t>
            </a:r>
          </a:p>
        </p:txBody>
      </p:sp>
      <p:sp>
        <p:nvSpPr>
          <p:cNvPr id="351" name="Conseguimos aplicar Brydges et al. mutatis mutandis e deduzimos…"/>
          <p:cNvSpPr txBox="1"/>
          <p:nvPr/>
        </p:nvSpPr>
        <p:spPr>
          <a:xfrm>
            <a:off x="2895600" y="7424136"/>
            <a:ext cx="18270017" cy="4482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Conseguimos aplicar Brydges et al. </a:t>
            </a:r>
            <a:r>
              <a:rPr i="1"/>
              <a:t>mutatis mutandis</a:t>
            </a:r>
            <a:r>
              <a:t> e deduzimos</a:t>
            </a:r>
          </a:p>
          <a:p>
            <a:pPr/>
            <a:r>
              <a:t>as desigualdades de correlação.</a:t>
            </a:r>
          </a:p>
          <a:p>
            <a:pPr/>
          </a:p>
          <a:p>
            <a:pPr/>
            <a:r>
              <a:t> A seguir, breve explicação da técnica.</a:t>
            </a:r>
          </a:p>
        </p:txBody>
      </p:sp>
      <p:sp>
        <p:nvSpPr>
          <p:cNvPr id="352" name="parametro:"/>
          <p:cNvSpPr txBox="1"/>
          <p:nvPr/>
        </p:nvSpPr>
        <p:spPr>
          <a:xfrm>
            <a:off x="2895600" y="4368939"/>
            <a:ext cx="308427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parametro:</a:t>
            </a:r>
          </a:p>
        </p:txBody>
      </p:sp>
      <p:sp>
        <p:nvSpPr>
          <p:cNvPr id="353" name="Equation"/>
          <p:cNvSpPr txBox="1"/>
          <p:nvPr/>
        </p:nvSpPr>
        <p:spPr>
          <a:xfrm>
            <a:off x="6969239" y="5395589"/>
            <a:ext cx="10445522" cy="12996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log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cosh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ad>
                    <m:rad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degHide m:val="on"/>
                    </m:radPr>
                    <m:deg/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e>
                  </m:rad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ϕ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≈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den>
                  </m:f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sup>
                  </m:sSup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35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357" name="Yukawa-Kac — Desigualdades de Correlaçã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de Correlação</a:t>
            </a:r>
          </a:p>
        </p:txBody>
      </p:sp>
      <p:sp>
        <p:nvSpPr>
          <p:cNvPr id="358" name="Decomposição:"/>
          <p:cNvSpPr txBox="1"/>
          <p:nvPr/>
        </p:nvSpPr>
        <p:spPr>
          <a:xfrm>
            <a:off x="1206499" y="3809941"/>
            <a:ext cx="5325111" cy="944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Decomposição:</a:t>
            </a:r>
          </a:p>
        </p:txBody>
      </p:sp>
      <p:sp>
        <p:nvSpPr>
          <p:cNvPr id="359" name="Usando as técnicas do apêndice C escrevemos"/>
          <p:cNvSpPr txBox="1"/>
          <p:nvPr/>
        </p:nvSpPr>
        <p:spPr>
          <a:xfrm>
            <a:off x="7504351" y="3872152"/>
            <a:ext cx="13121946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Usando as técnicas do apêndice </a:t>
            </a:r>
            <a:r>
              <a:rPr b="1"/>
              <a:t>C </a:t>
            </a:r>
            <a:r>
              <a:t>escrevemos</a:t>
            </a:r>
          </a:p>
        </p:txBody>
      </p:sp>
      <p:sp>
        <p:nvSpPr>
          <p:cNvPr id="360" name="Equation"/>
          <p:cNvSpPr txBox="1"/>
          <p:nvPr/>
        </p:nvSpPr>
        <p:spPr>
          <a:xfrm>
            <a:off x="7316454" y="5257080"/>
            <a:ext cx="10033743" cy="168095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lim>
                  </m:limLow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r>
                    <m:rPr>
                      <m:scr m:val="script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num>
                    <m:den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</m:den>
                  </m:f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361" name="Onde a esperança acima é a que corresponde à medida"/>
          <p:cNvSpPr txBox="1"/>
          <p:nvPr/>
        </p:nvSpPr>
        <p:spPr>
          <a:xfrm>
            <a:off x="1206500" y="7107553"/>
            <a:ext cx="15426843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Onde a esperança acima é a que corresponde à medida</a:t>
            </a:r>
          </a:p>
        </p:txBody>
      </p:sp>
      <p:sp>
        <p:nvSpPr>
          <p:cNvPr id="362" name="Equation"/>
          <p:cNvSpPr txBox="1"/>
          <p:nvPr/>
        </p:nvSpPr>
        <p:spPr>
          <a:xfrm>
            <a:off x="8543361" y="8887372"/>
            <a:ext cx="7297278" cy="159982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μ</m:t>
                      </m:r>
                    </m:e>
                    <m:sub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den>
                  </m:f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∏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g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363" name="Explicaremos os termos acima:"/>
          <p:cNvSpPr txBox="1"/>
          <p:nvPr/>
        </p:nvSpPr>
        <p:spPr>
          <a:xfrm>
            <a:off x="1206500" y="11458581"/>
            <a:ext cx="8650529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Explicaremos os termos acima:</a:t>
            </a:r>
          </a:p>
        </p:txBody>
      </p:sp>
      <p:sp>
        <p:nvSpPr>
          <p:cNvPr id="3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367" name="Yukawa-Kac — Desigualdades de Correlaçã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de Correlação</a:t>
            </a:r>
          </a:p>
        </p:txBody>
      </p:sp>
      <p:sp>
        <p:nvSpPr>
          <p:cNvPr id="368" name="Decomposição:"/>
          <p:cNvSpPr txBox="1"/>
          <p:nvPr/>
        </p:nvSpPr>
        <p:spPr>
          <a:xfrm>
            <a:off x="1206499" y="3809941"/>
            <a:ext cx="5325111" cy="944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Decomposição:</a:t>
            </a:r>
          </a:p>
        </p:txBody>
      </p:sp>
      <p:sp>
        <p:nvSpPr>
          <p:cNvPr id="369" name="Usando as técnicas do apêndice C escrevemos"/>
          <p:cNvSpPr txBox="1"/>
          <p:nvPr/>
        </p:nvSpPr>
        <p:spPr>
          <a:xfrm>
            <a:off x="7504351" y="3872152"/>
            <a:ext cx="13121946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Usando as técnicas do apêndice </a:t>
            </a:r>
            <a:r>
              <a:rPr b="1"/>
              <a:t>C </a:t>
            </a:r>
            <a:r>
              <a:t>escrevemos</a:t>
            </a:r>
          </a:p>
        </p:txBody>
      </p:sp>
      <p:sp>
        <p:nvSpPr>
          <p:cNvPr id="370" name="Equation"/>
          <p:cNvSpPr txBox="1"/>
          <p:nvPr/>
        </p:nvSpPr>
        <p:spPr>
          <a:xfrm>
            <a:off x="7316454" y="5257080"/>
            <a:ext cx="10033743" cy="168095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lim>
                  </m:limLow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r>
                    <m:rPr>
                      <m:scr m:val="script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num>
                    <m:den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</m:den>
                  </m:f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371" name="onde   são caminhos aleatórios entre   e  ,…"/>
          <p:cNvSpPr txBox="1"/>
          <p:nvPr/>
        </p:nvSpPr>
        <p:spPr>
          <a:xfrm>
            <a:off x="1206500" y="6858000"/>
            <a:ext cx="12158353" cy="23692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onde </a:t>
            </a:r>
            <a14:m>
              <m:oMath>
                <m:r>
                  <a:rPr xmlns:a="http://schemas.openxmlformats.org/drawingml/2006/main" sz="6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ω</m:t>
                </m:r>
              </m:oMath>
            </a14:m>
            <a:r>
              <a:t> são caminhos aleatórios entre </a:t>
            </a:r>
            <a14:m>
              <m:oMath>
                <m:r>
                  <a:rPr xmlns:a="http://schemas.openxmlformats.org/drawingml/2006/main" sz="5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</m:oMath>
            </a14:m>
            <a:r>
              <a:t> e </a:t>
            </a:r>
            <a14:m>
              <m:oMath>
                <m:r>
                  <a:rPr xmlns:a="http://schemas.openxmlformats.org/drawingml/2006/main" sz="5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</m:oMath>
            </a14:m>
            <a:r>
              <a:t>,</a:t>
            </a:r>
          </a:p>
          <a:p>
            <a:pPr/>
            <a:r>
              <a:t>e </a:t>
            </a:r>
            <a14:m>
              <m:oMath>
                <m:sSub>
                  <m:e>
                    <m:r>
                      <a:rPr xmlns:a="http://schemas.openxmlformats.org/drawingml/2006/main" sz="5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J</m:t>
                    </m:r>
                  </m:e>
                  <m:sub>
                    <m:r>
                      <a:rPr xmlns:a="http://schemas.openxmlformats.org/drawingml/2006/main" sz="5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ω</m:t>
                    </m:r>
                  </m:sub>
                </m:sSub>
              </m:oMath>
            </a14:m>
            <a:r>
              <a:t> vem da série de von Neumann:</a:t>
            </a:r>
          </a:p>
        </p:txBody>
      </p:sp>
      <p:sp>
        <p:nvSpPr>
          <p:cNvPr id="372" name="Equation"/>
          <p:cNvSpPr txBox="1"/>
          <p:nvPr/>
        </p:nvSpPr>
        <p:spPr>
          <a:xfrm>
            <a:off x="7504351" y="10118919"/>
            <a:ext cx="7942448" cy="143162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λ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J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∏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lim>
                  </m:limLow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3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376" name="Yukawa-Kac — Desigualdades de Correlaçã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de Correlação</a:t>
            </a:r>
          </a:p>
        </p:txBody>
      </p:sp>
      <p:sp>
        <p:nvSpPr>
          <p:cNvPr id="377" name="Decomposição:"/>
          <p:cNvSpPr txBox="1"/>
          <p:nvPr/>
        </p:nvSpPr>
        <p:spPr>
          <a:xfrm>
            <a:off x="1206499" y="3809941"/>
            <a:ext cx="5325111" cy="944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Decomposição:</a:t>
            </a:r>
          </a:p>
        </p:txBody>
      </p:sp>
      <p:sp>
        <p:nvSpPr>
          <p:cNvPr id="378" name="Usando as técnicas do apêndice C escrevemos"/>
          <p:cNvSpPr txBox="1"/>
          <p:nvPr/>
        </p:nvSpPr>
        <p:spPr>
          <a:xfrm>
            <a:off x="7504351" y="3872152"/>
            <a:ext cx="13121946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Usando as técnicas do apêndice </a:t>
            </a:r>
            <a:r>
              <a:rPr b="1"/>
              <a:t>C </a:t>
            </a:r>
            <a:r>
              <a:t>escrevemos</a:t>
            </a:r>
          </a:p>
        </p:txBody>
      </p:sp>
      <p:sp>
        <p:nvSpPr>
          <p:cNvPr id="379" name="Equation"/>
          <p:cNvSpPr txBox="1"/>
          <p:nvPr/>
        </p:nvSpPr>
        <p:spPr>
          <a:xfrm>
            <a:off x="7316454" y="5257080"/>
            <a:ext cx="10033743" cy="168095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lim>
                  </m:limLow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r>
                    <m:rPr>
                      <m:scr m:val="script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num>
                    <m:den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</m:den>
                  </m:f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380" name="Equation"/>
          <p:cNvSpPr txBox="1"/>
          <p:nvPr/>
        </p:nvSpPr>
        <p:spPr>
          <a:xfrm>
            <a:off x="1206500" y="8219202"/>
            <a:ext cx="3184686" cy="129966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m:rPr>
                      <m:scr m:val="script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381" name="onde"/>
          <p:cNvSpPr txBox="1"/>
          <p:nvPr/>
        </p:nvSpPr>
        <p:spPr>
          <a:xfrm>
            <a:off x="5299912" y="8464820"/>
            <a:ext cx="149199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onde</a:t>
            </a:r>
          </a:p>
        </p:txBody>
      </p:sp>
      <p:sp>
        <p:nvSpPr>
          <p:cNvPr id="382" name="Equation"/>
          <p:cNvSpPr txBox="1"/>
          <p:nvPr/>
        </p:nvSpPr>
        <p:spPr>
          <a:xfrm>
            <a:off x="7316454" y="8219202"/>
            <a:ext cx="8714692" cy="159686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: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∏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g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383" name="e,"/>
          <p:cNvSpPr txBox="1"/>
          <p:nvPr/>
        </p:nvSpPr>
        <p:spPr>
          <a:xfrm>
            <a:off x="16274877" y="8275715"/>
            <a:ext cx="6344678" cy="997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e, </a:t>
            </a:r>
            <a14:m>
              <m:oMath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sSub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</m:e>
                  <m:sub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sSub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</m:e>
                  <m:sub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…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sSup>
                  <m:e>
                    <m:r>
                      <m:rPr>
                        <m:sty m:val="p"/>
                        <m:scr m:val="double-struck"/>
                      </m:rP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</m:e>
                  <m:sup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</m:sup>
                </m:sSup>
              </m:oMath>
            </a14:m>
          </a:p>
        </p:txBody>
      </p:sp>
      <p:sp>
        <p:nvSpPr>
          <p:cNvPr id="384" name="E"/>
          <p:cNvSpPr txBox="1"/>
          <p:nvPr/>
        </p:nvSpPr>
        <p:spPr>
          <a:xfrm>
            <a:off x="1206500" y="10734732"/>
            <a:ext cx="65623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 </a:t>
            </a:r>
          </a:p>
        </p:txBody>
      </p:sp>
      <p:sp>
        <p:nvSpPr>
          <p:cNvPr id="385" name="Equation"/>
          <p:cNvSpPr txBox="1"/>
          <p:nvPr/>
        </p:nvSpPr>
        <p:spPr>
          <a:xfrm>
            <a:off x="3109319" y="10340518"/>
            <a:ext cx="11238622" cy="159686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: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ϕ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∏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g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3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389" name="Yukawa-Kac — Desigualdades de Correlaçã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de Correlação</a:t>
            </a:r>
          </a:p>
        </p:txBody>
      </p:sp>
      <p:sp>
        <p:nvSpPr>
          <p:cNvPr id="390" name="Decomposição:"/>
          <p:cNvSpPr txBox="1"/>
          <p:nvPr/>
        </p:nvSpPr>
        <p:spPr>
          <a:xfrm>
            <a:off x="1206499" y="3809941"/>
            <a:ext cx="5325111" cy="944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Decomposição:</a:t>
            </a:r>
          </a:p>
        </p:txBody>
      </p:sp>
      <p:sp>
        <p:nvSpPr>
          <p:cNvPr id="391" name="Usando as técnicas do apêndice C escrevemos"/>
          <p:cNvSpPr txBox="1"/>
          <p:nvPr/>
        </p:nvSpPr>
        <p:spPr>
          <a:xfrm>
            <a:off x="7504351" y="3872152"/>
            <a:ext cx="13121946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Usando as técnicas do apêndice </a:t>
            </a:r>
            <a:r>
              <a:rPr b="1"/>
              <a:t>C </a:t>
            </a:r>
            <a:r>
              <a:t>escrevemos</a:t>
            </a:r>
          </a:p>
        </p:txBody>
      </p:sp>
      <p:sp>
        <p:nvSpPr>
          <p:cNvPr id="392" name="Equation"/>
          <p:cNvSpPr txBox="1"/>
          <p:nvPr/>
        </p:nvSpPr>
        <p:spPr>
          <a:xfrm>
            <a:off x="7316454" y="5257080"/>
            <a:ext cx="10033743" cy="168095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lim>
                  </m:limLow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r>
                    <m:rPr>
                      <m:scr m:val="script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num>
                    <m:den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</m:den>
                  </m:f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393" name="e, por fim, a medida   se   e   se  ."/>
          <p:cNvSpPr txBox="1"/>
          <p:nvPr/>
        </p:nvSpPr>
        <p:spPr>
          <a:xfrm>
            <a:off x="1206500" y="7969573"/>
            <a:ext cx="21320002" cy="1003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e, por fim, a medida </a:t>
            </a:r>
            <a14:m>
              <m:oMath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d</m:t>
                </m:r>
                <m:sSub>
                  <m:e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ν</m:t>
                    </m:r>
                  </m:e>
                  <m:sub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ω</m:t>
                    </m:r>
                  </m:sub>
                </m:sSub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d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  <a:r>
              <a:t> se </a:t>
            </a:r>
            <a14:m>
              <m:oMath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t> e </a:t>
            </a:r>
            <a14:m>
              <m:oMath>
                <m:r>
                  <a:rPr xmlns:a="http://schemas.openxmlformats.org/drawingml/2006/main" sz="6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sSup>
                  <m:e>
                    <m:r>
                      <a:rPr xmlns:a="http://schemas.openxmlformats.org/drawingml/2006/main" sz="6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</m:e>
                  <m:sup>
                    <m:r>
                      <a:rPr xmlns:a="http://schemas.openxmlformats.org/drawingml/2006/main" sz="6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6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6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  <m:r>
                  <a:rPr xmlns:a="http://schemas.openxmlformats.org/drawingml/2006/main" sz="6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d</m:t>
                </m:r>
                <m:r>
                  <a:rPr xmlns:a="http://schemas.openxmlformats.org/drawingml/2006/main" sz="6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xmlns:a="http://schemas.openxmlformats.org/drawingml/2006/main" sz="6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xmlns:a="http://schemas.openxmlformats.org/drawingml/2006/main" sz="6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6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xmlns:a="http://schemas.openxmlformats.org/drawingml/2006/main" sz="6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6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6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6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!</m:t>
                </m:r>
              </m:oMath>
            </a14:m>
            <a:r>
              <a:t> se </a:t>
            </a:r>
            <a14:m>
              <m:oMath>
                <m:r>
                  <a:rPr xmlns:a="http://schemas.openxmlformats.org/drawingml/2006/main" sz="6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xmlns:a="http://schemas.openxmlformats.org/drawingml/2006/main" sz="6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≥</m:t>
                </m:r>
                <m:r>
                  <a:rPr xmlns:a="http://schemas.openxmlformats.org/drawingml/2006/main" sz="6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  <a:r>
              <a:t>.</a:t>
            </a:r>
          </a:p>
        </p:txBody>
      </p:sp>
      <p:sp>
        <p:nvSpPr>
          <p:cNvPr id="394" name="O crucial: propriedades dessas integrais."/>
          <p:cNvSpPr txBox="1"/>
          <p:nvPr/>
        </p:nvSpPr>
        <p:spPr>
          <a:xfrm>
            <a:off x="1206500" y="10004400"/>
            <a:ext cx="1124681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 crucial: propriedades dessas integrais.</a:t>
            </a:r>
          </a:p>
        </p:txBody>
      </p:sp>
      <p:sp>
        <p:nvSpPr>
          <p:cNvPr id="3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398" name="Yukawa-Kac — Desigualdades de Correlaçã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de Correlação</a:t>
            </a:r>
          </a:p>
        </p:txBody>
      </p:sp>
      <p:sp>
        <p:nvSpPr>
          <p:cNvPr id="399" name="Decomposição:"/>
          <p:cNvSpPr txBox="1"/>
          <p:nvPr/>
        </p:nvSpPr>
        <p:spPr>
          <a:xfrm>
            <a:off x="1206499" y="3809941"/>
            <a:ext cx="5325111" cy="944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Decomposição:</a:t>
            </a:r>
          </a:p>
        </p:txBody>
      </p:sp>
      <p:sp>
        <p:nvSpPr>
          <p:cNvPr id="400" name="O crucial: propriedades dessas integrais."/>
          <p:cNvSpPr txBox="1"/>
          <p:nvPr/>
        </p:nvSpPr>
        <p:spPr>
          <a:xfrm>
            <a:off x="7126991" y="3946448"/>
            <a:ext cx="1124681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 crucial: propriedades dessas integrais.</a:t>
            </a:r>
          </a:p>
        </p:txBody>
      </p:sp>
      <p:sp>
        <p:nvSpPr>
          <p:cNvPr id="401" name="Viz.,"/>
          <p:cNvSpPr txBox="1"/>
          <p:nvPr/>
        </p:nvSpPr>
        <p:spPr>
          <a:xfrm>
            <a:off x="1206499" y="6049568"/>
            <a:ext cx="124267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Viz.,</a:t>
            </a:r>
          </a:p>
        </p:txBody>
      </p:sp>
      <p:sp>
        <p:nvSpPr>
          <p:cNvPr id="402" name="Equation"/>
          <p:cNvSpPr txBox="1"/>
          <p:nvPr/>
        </p:nvSpPr>
        <p:spPr>
          <a:xfrm>
            <a:off x="8609856" y="5765043"/>
            <a:ext cx="7446940" cy="168095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r>
                    <m:rPr>
                      <m:scr m:val="script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403" name="Equation"/>
          <p:cNvSpPr txBox="1"/>
          <p:nvPr/>
        </p:nvSpPr>
        <p:spPr>
          <a:xfrm>
            <a:off x="4732135" y="8713266"/>
            <a:ext cx="15021331" cy="223043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eqArr>
                        <m:eqArr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e>
                              <m:argPr>
                                <m:scrLvl m:val="1"/>
                              </m:argPr>
                              <m:r>
                                <a:rPr xmlns:a="http://schemas.openxmlformats.org/drawingml/2006/main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argPr>
                                <m:scrLvl m:val="1"/>
                              </m:argPr>
                              <m:r>
                                <a:rPr xmlns:a="http://schemas.openxmlformats.org/drawingml/2006/main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e>
                          <m:sSub>
                            <m:e>
                              <m:argPr>
                                <m:scrLvl m:val="1"/>
                              </m:argPr>
                              <m:r>
                                <a:rPr xmlns:a="http://schemas.openxmlformats.org/drawingml/2006/main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argPr>
                                <m:scrLvl m:val="1"/>
                              </m:argPr>
                              <m:r>
                                <a:rPr xmlns:a="http://schemas.openxmlformats.org/drawingml/2006/main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eqAr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4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407" name="Yukawa-Kac — Desigualdades de Correlaçã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de Correlação</a:t>
            </a:r>
          </a:p>
        </p:txBody>
      </p:sp>
      <p:sp>
        <p:nvSpPr>
          <p:cNvPr id="408" name="Escrevemos a função de quatro pontos   em termos de integrais…"/>
          <p:cNvSpPr txBox="1"/>
          <p:nvPr/>
        </p:nvSpPr>
        <p:spPr>
          <a:xfrm>
            <a:off x="2895600" y="3461553"/>
            <a:ext cx="18198298" cy="2203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Escrevemos a função de quatro pontos </a:t>
            </a:r>
            <a14:m>
              <m:oMath>
                <m:sSub>
                  <m:e>
                    <m:r>
                      <a:rPr xmlns:a="http://schemas.openxmlformats.org/drawingml/2006/main" sz="6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u</m:t>
                    </m:r>
                  </m:e>
                  <m:sub>
                    <m:r>
                      <a:rPr xmlns:a="http://schemas.openxmlformats.org/drawingml/2006/main" sz="6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4</m:t>
                    </m:r>
                  </m:sub>
                </m:sSub>
              </m:oMath>
            </a14:m>
            <a:r>
              <a:t> em termos de integrais </a:t>
            </a:r>
          </a:p>
          <a:p>
            <a:pPr/>
            <a:r>
              <a:t>como acima:</a:t>
            </a:r>
          </a:p>
        </p:txBody>
      </p:sp>
      <p:sp>
        <p:nvSpPr>
          <p:cNvPr id="409" name="Equation"/>
          <p:cNvSpPr txBox="1"/>
          <p:nvPr/>
        </p:nvSpPr>
        <p:spPr>
          <a:xfrm>
            <a:off x="5186399" y="6572508"/>
            <a:ext cx="13616700" cy="57098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1,2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;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3,4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1,3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;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2,4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1,4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;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2,3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410" name="onde,"/>
          <p:cNvSpPr txBox="1"/>
          <p:nvPr/>
        </p:nvSpPr>
        <p:spPr>
          <a:xfrm>
            <a:off x="2895600" y="7692583"/>
            <a:ext cx="166146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onde,</a:t>
            </a:r>
          </a:p>
        </p:txBody>
      </p:sp>
      <p:sp>
        <p:nvSpPr>
          <p:cNvPr id="411" name="Equation"/>
          <p:cNvSpPr txBox="1"/>
          <p:nvPr/>
        </p:nvSpPr>
        <p:spPr>
          <a:xfrm>
            <a:off x="5186399" y="8501014"/>
            <a:ext cx="13585580" cy="169987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1,2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;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3,4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: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r>
                    <m:rPr>
                      <m:scr m:val="script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412" name="&amp;ct."/>
          <p:cNvSpPr txBox="1"/>
          <p:nvPr/>
        </p:nvSpPr>
        <p:spPr>
          <a:xfrm>
            <a:off x="19462339" y="8706326"/>
            <a:ext cx="118719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&amp;ct.</a:t>
            </a:r>
          </a:p>
        </p:txBody>
      </p:sp>
      <p:sp>
        <p:nvSpPr>
          <p:cNvPr id="4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416" name="Yukawa-Kac — Desigualdades de Correlaçã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de Correlação</a:t>
            </a:r>
          </a:p>
        </p:txBody>
      </p:sp>
      <p:sp>
        <p:nvSpPr>
          <p:cNvPr id="417" name="Para encontrar o bound de  :"/>
          <p:cNvSpPr txBox="1"/>
          <p:nvPr/>
        </p:nvSpPr>
        <p:spPr>
          <a:xfrm>
            <a:off x="2895600" y="4064456"/>
            <a:ext cx="8384957" cy="997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Para encontrar o </a:t>
            </a:r>
            <a:r>
              <a:rPr i="1"/>
              <a:t>bound</a:t>
            </a:r>
            <a:r>
              <a:t> de </a:t>
            </a:r>
            <a14:m>
              <m:oMath>
                <m:sSub>
                  <m:e>
                    <m:r>
                      <a:rPr xmlns:a="http://schemas.openxmlformats.org/drawingml/2006/main" sz="6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u</m:t>
                    </m:r>
                  </m:e>
                  <m:sub>
                    <m:r>
                      <a:rPr xmlns:a="http://schemas.openxmlformats.org/drawingml/2006/main" sz="6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4</m:t>
                    </m:r>
                  </m:sub>
                </m:sSub>
              </m:oMath>
            </a14:m>
            <a:r>
              <a:t>:</a:t>
            </a:r>
          </a:p>
        </p:txBody>
      </p:sp>
      <p:sp>
        <p:nvSpPr>
          <p:cNvPr id="418" name="Equation"/>
          <p:cNvSpPr txBox="1"/>
          <p:nvPr/>
        </p:nvSpPr>
        <p:spPr>
          <a:xfrm>
            <a:off x="7792555" y="5641084"/>
            <a:ext cx="9114323" cy="162876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bSup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419" name="E usamos desigualdades de Griffiths (aqui   tem que ser ferromagnético)…"/>
          <p:cNvSpPr txBox="1"/>
          <p:nvPr/>
        </p:nvSpPr>
        <p:spPr>
          <a:xfrm>
            <a:off x="2895600" y="7848942"/>
            <a:ext cx="20038663" cy="4988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E usamos desigualdades de Griffiths (aqui </a:t>
            </a:r>
            <a14:m>
              <m:oMath>
                <m:r>
                  <a:rPr xmlns:a="http://schemas.openxmlformats.org/drawingml/2006/main" sz="5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J</m:t>
                </m:r>
              </m:oMath>
            </a14:m>
            <a:r>
              <a:t> tem que ser ferromagnético)</a:t>
            </a:r>
          </a:p>
          <a:p>
            <a:pPr/>
            <a:r>
              <a:t>para limitar o lado esquerdo.</a:t>
            </a:r>
          </a:p>
          <a:p>
            <a:pPr/>
            <a:r>
              <a:t>Usamos as propriedades da medida </a:t>
            </a:r>
            <a14:m>
              <m:oMath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d</m:t>
                </m:r>
                <m:sSub>
                  <m:e>
                    <m:r>
                      <a:rPr xmlns:a="http://schemas.openxmlformats.org/drawingml/2006/main" sz="5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ν</m:t>
                    </m:r>
                  </m:e>
                  <m:sub>
                    <m:r>
                      <a:rPr xmlns:a="http://schemas.openxmlformats.org/drawingml/2006/main" sz="5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ω</m:t>
                    </m:r>
                  </m:sub>
                </m:sSub>
              </m:oMath>
            </a14:m>
            <a:r>
              <a:t> para eliminar a soma em </a:t>
            </a:r>
            <a14:m>
              <m:oMath>
                <m:r>
                  <a:rPr xmlns:a="http://schemas.openxmlformats.org/drawingml/2006/main" sz="6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ω</m:t>
                </m:r>
              </m:oMath>
            </a14:m>
            <a:r>
              <a:t> e a</a:t>
            </a:r>
          </a:p>
          <a:p>
            <a:pPr/>
            <a:r>
              <a:t>Integral em </a:t>
            </a:r>
            <a14:m>
              <m:oMath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d</m:t>
                </m:r>
                <m:sSub>
                  <m:e>
                    <m:r>
                      <a:rPr xmlns:a="http://schemas.openxmlformats.org/drawingml/2006/main" sz="5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ν</m:t>
                    </m:r>
                  </m:e>
                  <m:sub>
                    <m:r>
                      <a:rPr xmlns:a="http://schemas.openxmlformats.org/drawingml/2006/main" sz="5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ω</m:t>
                    </m:r>
                  </m:sub>
                </m:sSub>
              </m:oMath>
            </a14:m>
          </a:p>
        </p:txBody>
      </p:sp>
      <p:sp>
        <p:nvSpPr>
          <p:cNvPr id="4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423" name="Yukawa-Kac — Desigualdades de Correlaçã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de Correlação</a:t>
            </a:r>
          </a:p>
        </p:txBody>
      </p:sp>
      <p:sp>
        <p:nvSpPr>
          <p:cNvPr id="424" name="Por fim,"/>
          <p:cNvSpPr txBox="1"/>
          <p:nvPr/>
        </p:nvSpPr>
        <p:spPr>
          <a:xfrm>
            <a:off x="2895600" y="4159008"/>
            <a:ext cx="2236928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Por fim,</a:t>
            </a:r>
          </a:p>
        </p:txBody>
      </p:sp>
      <p:sp>
        <p:nvSpPr>
          <p:cNvPr id="425" name="Equation"/>
          <p:cNvSpPr txBox="1"/>
          <p:nvPr/>
        </p:nvSpPr>
        <p:spPr>
          <a:xfrm>
            <a:off x="5354933" y="6142122"/>
            <a:ext cx="13674134" cy="143175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≥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sup>
                  </m:sSup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42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429" name="Yukawa-Kac — Desigualdades com Campo Externo"/>
          <p:cNvSpPr txBox="1"/>
          <p:nvPr>
            <p:ph type="body" idx="13"/>
          </p:nvPr>
        </p:nvSpPr>
        <p:spPr>
          <a:xfrm>
            <a:off x="1206500" y="6390610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com Campo Externo</a:t>
            </a:r>
          </a:p>
        </p:txBody>
      </p:sp>
      <p:sp>
        <p:nvSpPr>
          <p:cNvPr id="4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433" name="Yukawa-Kac — Desigualdades com Campo Extern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com Campo Externo</a:t>
            </a:r>
          </a:p>
        </p:txBody>
      </p:sp>
      <p:sp>
        <p:nvSpPr>
          <p:cNvPr id="434" name="Queremos um Hamiltoniano com campo externo"/>
          <p:cNvSpPr txBox="1"/>
          <p:nvPr/>
        </p:nvSpPr>
        <p:spPr>
          <a:xfrm>
            <a:off x="2895600" y="3807991"/>
            <a:ext cx="1338346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Queremos um Hamiltoniano com campo externo</a:t>
            </a:r>
          </a:p>
        </p:txBody>
      </p:sp>
      <p:sp>
        <p:nvSpPr>
          <p:cNvPr id="435" name="Usamos sítios fantasmas:"/>
          <p:cNvSpPr txBox="1"/>
          <p:nvPr/>
        </p:nvSpPr>
        <p:spPr>
          <a:xfrm>
            <a:off x="2895600" y="4954647"/>
            <a:ext cx="7114947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Usamos sítios fantasmas:</a:t>
            </a:r>
          </a:p>
        </p:txBody>
      </p:sp>
      <p:sp>
        <p:nvSpPr>
          <p:cNvPr id="436" name="Equation"/>
          <p:cNvSpPr txBox="1"/>
          <p:nvPr/>
        </p:nvSpPr>
        <p:spPr>
          <a:xfrm>
            <a:off x="2895600" y="6101304"/>
            <a:ext cx="16600206" cy="178303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σ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den>
                  </m:f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lim>
                  </m:limLow>
                  <m:limUp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˜</m:t>
                      </m:r>
                    </m:lim>
                  </m:limUp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437" name="onde   e"/>
          <p:cNvSpPr txBox="1"/>
          <p:nvPr/>
        </p:nvSpPr>
        <p:spPr>
          <a:xfrm>
            <a:off x="2895600" y="8124354"/>
            <a:ext cx="4042214" cy="1004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onde </a:t>
            </a:r>
            <a14:m>
              <m:oMath>
                <m:sSub>
                  <m:e>
                    <m:r>
                      <a:rPr xmlns:a="http://schemas.openxmlformats.org/drawingml/2006/main"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σ</m:t>
                    </m:r>
                  </m:e>
                  <m:sub>
                    <m:r>
                      <a:rPr xmlns:a="http://schemas.openxmlformats.org/drawingml/2006/main"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xmlns:a="http://schemas.openxmlformats.org/drawingml/2006/main" sz="6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6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  <a:r>
              <a:t> e</a:t>
            </a:r>
          </a:p>
        </p:txBody>
      </p:sp>
      <p:sp>
        <p:nvSpPr>
          <p:cNvPr id="438" name=", se   e  ; e"/>
          <p:cNvSpPr txBox="1"/>
          <p:nvPr/>
        </p:nvSpPr>
        <p:spPr>
          <a:xfrm>
            <a:off x="2895600" y="9553197"/>
            <a:ext cx="10801758" cy="1105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14:m>
              <m:oMath>
                <m:limUpp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J</m:t>
                    </m:r>
                  </m:e>
                  <m:lim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˜</m:t>
                    </m:r>
                  </m:lim>
                </m:limUpp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J</m:t>
                    </m:r>
                  </m:e>
                  <m:sub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γ</m:t>
                    </m:r>
                  </m:sub>
                </m:sSub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, se </a:t>
            </a:r>
            <a14:m>
              <m:oMath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≠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t> e </a:t>
            </a:r>
            <a14:m>
              <m:oMath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≠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t>; e  </a:t>
            </a:r>
          </a:p>
        </p:txBody>
      </p:sp>
      <p:sp>
        <p:nvSpPr>
          <p:cNvPr id="439" name=", se   ou  ."/>
          <p:cNvSpPr txBox="1"/>
          <p:nvPr/>
        </p:nvSpPr>
        <p:spPr>
          <a:xfrm>
            <a:off x="2895600" y="11392737"/>
            <a:ext cx="10290206" cy="965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14:m>
              <m:oMath>
                <m:limUpp>
                  <m:e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J</m:t>
                    </m:r>
                  </m:e>
                  <m:lim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˜</m:t>
                    </m:r>
                  </m:lim>
                </m:limUpp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m:rPr>
                    <m:sty m:val="p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Λ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</m:oMath>
            </a14:m>
            <a:r>
              <a:t>, se </a:t>
            </a:r>
            <a14:m>
              <m:oMath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t> ou </a:t>
            </a:r>
            <a14:m>
              <m:oMath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t>.</a:t>
            </a:r>
          </a:p>
        </p:txBody>
      </p:sp>
      <p:sp>
        <p:nvSpPr>
          <p:cNvPr id="4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443" name="Yukawa-Kac — Desigualdades com Campo Extern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com Campo Externo</a:t>
            </a:r>
          </a:p>
        </p:txBody>
      </p:sp>
      <p:sp>
        <p:nvSpPr>
          <p:cNvPr id="444" name="Para sine-Gordon invertemos"/>
          <p:cNvSpPr txBox="1"/>
          <p:nvPr/>
        </p:nvSpPr>
        <p:spPr>
          <a:xfrm>
            <a:off x="2895600" y="3807991"/>
            <a:ext cx="810798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Para sine-Gordon invertemos</a:t>
            </a:r>
          </a:p>
        </p:txBody>
      </p:sp>
      <p:sp>
        <p:nvSpPr>
          <p:cNvPr id="445" name="onde   é uma constante arbitrária e  ."/>
          <p:cNvSpPr txBox="1"/>
          <p:nvPr/>
        </p:nvSpPr>
        <p:spPr>
          <a:xfrm>
            <a:off x="2895600" y="9096652"/>
            <a:ext cx="15653251" cy="10950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onde </a:t>
            </a:r>
            <a14:m>
              <m:oMath>
                <m:r>
                  <a:rPr xmlns:a="http://schemas.openxmlformats.org/drawingml/2006/main" sz="6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</m:oMath>
            </a14:m>
            <a:r>
              <a:t> é uma constante arbitrária e </a:t>
            </a:r>
            <a14:m>
              <m:oMath>
                <m:sSub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e>
                  <m:sub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sub>
                </m:sSub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…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m:rPr>
                    <m:sty m:val="p"/>
                  </m:rP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Λ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</m:oMath>
            </a14:m>
            <a:r>
              <a:t>.</a:t>
            </a:r>
          </a:p>
        </p:txBody>
      </p:sp>
      <p:sp>
        <p:nvSpPr>
          <p:cNvPr id="446" name="Equation"/>
          <p:cNvSpPr txBox="1"/>
          <p:nvPr/>
        </p:nvSpPr>
        <p:spPr>
          <a:xfrm>
            <a:off x="10113591" y="5909966"/>
            <a:ext cx="4485799" cy="187513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limUp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˜</m:t>
                      </m:r>
                    </m:lim>
                  </m:limUp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r>
                              <a:rPr xmlns:a="http://schemas.openxmlformats.org/drawingml/2006/main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m:rPr>
                                    <m:sty m:val="p"/>
                                  </m:rPr>
                                  <a:rPr xmlns:a="http://schemas.openxmlformats.org/drawingml/2006/main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  <m:r>
                                  <a:rPr xmlns:a="http://schemas.openxmlformats.org/drawingml/2006/main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Sup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m:rPr>
                                    <m:sty m:val="p"/>
                                  </m:rPr>
                                  <a:rPr xmlns:a="http://schemas.openxmlformats.org/drawingml/2006/main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  <m:r>
                                  <a:rPr xmlns:a="http://schemas.openxmlformats.org/drawingml/2006/main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sub>
                              <m:sup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bSup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sub>
                            </m:sSub>
                          </m:e>
                        </m:mr>
                      </m:m>
                    </m:e>
                  </m:d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4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450" name="Yukawa-Kac — Desigualdades com Campo Extern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com Campo Externo</a:t>
            </a:r>
          </a:p>
        </p:txBody>
      </p:sp>
      <p:sp>
        <p:nvSpPr>
          <p:cNvPr id="451" name="Aplicando sine-Gordon:"/>
          <p:cNvSpPr txBox="1"/>
          <p:nvPr/>
        </p:nvSpPr>
        <p:spPr>
          <a:xfrm>
            <a:off x="2895600" y="3307741"/>
            <a:ext cx="658398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Aplicando sine-Gordon:</a:t>
            </a:r>
          </a:p>
        </p:txBody>
      </p:sp>
      <p:sp>
        <p:nvSpPr>
          <p:cNvPr id="452" name="onde,"/>
          <p:cNvSpPr txBox="1"/>
          <p:nvPr/>
        </p:nvSpPr>
        <p:spPr>
          <a:xfrm>
            <a:off x="2895600" y="5713032"/>
            <a:ext cx="166146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onde,</a:t>
            </a:r>
          </a:p>
        </p:txBody>
      </p:sp>
      <p:sp>
        <p:nvSpPr>
          <p:cNvPr id="453" name="Equation"/>
          <p:cNvSpPr txBox="1"/>
          <p:nvPr/>
        </p:nvSpPr>
        <p:spPr>
          <a:xfrm>
            <a:off x="2895600" y="4116172"/>
            <a:ext cx="7371449" cy="159686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∏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g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ϕ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454" name="Equation"/>
          <p:cNvSpPr txBox="1"/>
          <p:nvPr/>
        </p:nvSpPr>
        <p:spPr>
          <a:xfrm>
            <a:off x="2895600" y="6858000"/>
            <a:ext cx="18986071" cy="211375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ϕ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j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ϕ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Λ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p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eqArr>
                        <m:eqArr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-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eqAr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p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Λ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455" name="e"/>
          <p:cNvSpPr txBox="1"/>
          <p:nvPr/>
        </p:nvSpPr>
        <p:spPr>
          <a:xfrm>
            <a:off x="2895600" y="8971757"/>
            <a:ext cx="441656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</a:t>
            </a:r>
          </a:p>
        </p:txBody>
      </p:sp>
      <p:sp>
        <p:nvSpPr>
          <p:cNvPr id="456" name="Equation"/>
          <p:cNvSpPr txBox="1"/>
          <p:nvPr/>
        </p:nvSpPr>
        <p:spPr>
          <a:xfrm>
            <a:off x="2895600" y="9720047"/>
            <a:ext cx="11375884" cy="115707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g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exp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log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cosh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ad>
                    <m:rad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degHide m:val="on"/>
                    </m:radPr>
                    <m:deg/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sSub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e>
                  </m:rad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457" name="onde  , se  ;"/>
          <p:cNvSpPr txBox="1"/>
          <p:nvPr/>
        </p:nvSpPr>
        <p:spPr>
          <a:xfrm>
            <a:off x="14688504" y="9799817"/>
            <a:ext cx="8390711" cy="997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onde </a:t>
            </a:r>
            <a14:m>
              <m:oMath>
                <m:sSub>
                  <m:e>
                    <m:r>
                      <a:rPr xmlns:a="http://schemas.openxmlformats.org/drawingml/2006/main"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j</m:t>
                    </m:r>
                  </m:e>
                  <m:sub>
                    <m:r>
                      <a:rPr xmlns:a="http://schemas.openxmlformats.org/drawingml/2006/main"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xmlns:a="http://schemas.openxmlformats.org/drawingml/2006/main" sz="5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sSup>
                  <m:e>
                    <m:r>
                      <a:rPr xmlns:a="http://schemas.openxmlformats.org/drawingml/2006/main"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k</m:t>
                    </m:r>
                  </m:e>
                  <m:sup>
                    <m:r>
                      <a:rPr xmlns:a="http://schemas.openxmlformats.org/drawingml/2006/main"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  <m:r>
                  <a:rPr xmlns:a="http://schemas.openxmlformats.org/drawingml/2006/main" sz="5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xmlns:a="http://schemas.openxmlformats.org/drawingml/2006/main" sz="5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</m:t>
                </m:r>
              </m:oMath>
            </a14:m>
            <a:r>
              <a:t>, se </a:t>
            </a:r>
            <a14:m>
              <m:oMath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t>;</a:t>
            </a:r>
          </a:p>
        </p:txBody>
      </p:sp>
      <p:sp>
        <p:nvSpPr>
          <p:cNvPr id="458" name="Equation"/>
          <p:cNvSpPr txBox="1"/>
          <p:nvPr/>
        </p:nvSpPr>
        <p:spPr>
          <a:xfrm>
            <a:off x="2895600" y="11625415"/>
            <a:ext cx="9043931" cy="71608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/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p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Λ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/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2,</m:t>
                  </m:r>
                </m:oMath>
              </m:oMathPara>
            </a14:m>
            <a:endParaRPr sz="4800"/>
          </a:p>
        </p:txBody>
      </p:sp>
      <p:sp>
        <p:nvSpPr>
          <p:cNvPr id="459" name="se  ."/>
          <p:cNvSpPr txBox="1"/>
          <p:nvPr/>
        </p:nvSpPr>
        <p:spPr>
          <a:xfrm>
            <a:off x="12839740" y="11382036"/>
            <a:ext cx="2863487" cy="959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se </a:t>
            </a:r>
            <a14:m>
              <m:oMath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≠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t>. </a:t>
            </a:r>
          </a:p>
        </p:txBody>
      </p:sp>
      <p:sp>
        <p:nvSpPr>
          <p:cNvPr id="460" name="se definirmos"/>
          <p:cNvSpPr txBox="1"/>
          <p:nvPr/>
        </p:nvSpPr>
        <p:spPr>
          <a:xfrm>
            <a:off x="11576151" y="4116172"/>
            <a:ext cx="7652511" cy="965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se definirmos </a:t>
            </a:r>
            <a14:m>
              <m:oMath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sSup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γ</m:t>
                    </m:r>
                  </m:e>
                  <m:sup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sSup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e>
                  <m:sup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</a:p>
        </p:txBody>
      </p:sp>
      <p:sp>
        <p:nvSpPr>
          <p:cNvPr id="4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464" name="Yukawa-Kac — Desigualdades com Campo Extern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com Campo Externo</a:t>
            </a:r>
          </a:p>
        </p:txBody>
      </p:sp>
      <p:sp>
        <p:nvSpPr>
          <p:cNvPr id="465" name="Condição:   .…"/>
          <p:cNvSpPr txBox="1"/>
          <p:nvPr/>
        </p:nvSpPr>
        <p:spPr>
          <a:xfrm>
            <a:off x="2895599" y="4537902"/>
            <a:ext cx="6057237" cy="2320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Condição:  </a:t>
            </a:r>
            <a14:m>
              <m:oMath>
                <m:sSup>
                  <m:e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k</m:t>
                    </m:r>
                  </m:e>
                  <m:sup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4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d</m:t>
                </m:r>
              </m:oMath>
            </a14:m>
            <a:r>
              <a:t>.</a:t>
            </a:r>
          </a:p>
          <a:p>
            <a:pPr/>
            <a:r>
              <a:t>Neste caso </a:t>
            </a:r>
            <a14:m>
              <m:oMath>
                <m:r>
                  <a:rPr xmlns:a="http://schemas.openxmlformats.org/drawingml/2006/main" sz="6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6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&lt;</m:t>
                </m:r>
                <m:r>
                  <m:rPr>
                    <m:sty m:val="p"/>
                  </m:rPr>
                  <a:rPr xmlns:a="http://schemas.openxmlformats.org/drawingml/2006/main" sz="6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∞</m:t>
                </m:r>
              </m:oMath>
            </a14:m>
            <a:r>
              <a:t>.</a:t>
            </a:r>
          </a:p>
        </p:txBody>
      </p:sp>
      <p:sp>
        <p:nvSpPr>
          <p:cNvPr id="4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469" name="Yukawa-Kac — Desigualdades com Campo Extern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com Campo Externo</a:t>
            </a:r>
          </a:p>
        </p:txBody>
      </p:sp>
      <p:sp>
        <p:nvSpPr>
          <p:cNvPr id="470" name="Problema:   não é ferromagnético"/>
          <p:cNvSpPr txBox="1"/>
          <p:nvPr/>
        </p:nvSpPr>
        <p:spPr>
          <a:xfrm>
            <a:off x="1206500" y="12016298"/>
            <a:ext cx="9417899" cy="966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 b="1"/>
              <a:t>Problema</a:t>
            </a:r>
            <a:r>
              <a:t>: </a:t>
            </a:r>
            <a14:m>
              <m:oMath>
                <m:r>
                  <a:rPr xmlns:a="http://schemas.openxmlformats.org/drawingml/2006/main" sz="3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j</m:t>
                </m:r>
              </m:oMath>
            </a14:m>
            <a:r>
              <a:t> não é ferromagnético</a:t>
            </a:r>
          </a:p>
        </p:txBody>
      </p:sp>
      <p:sp>
        <p:nvSpPr>
          <p:cNvPr id="471" name="Equation"/>
          <p:cNvSpPr txBox="1"/>
          <p:nvPr/>
        </p:nvSpPr>
        <p:spPr>
          <a:xfrm>
            <a:off x="1206500" y="3938839"/>
            <a:ext cx="20092884" cy="59353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</m:oMath>
              </m:oMathPara>
            </a14:m>
            <a:endParaRPr sz="4800"/>
          </a:p>
        </p:txBody>
      </p:sp>
      <p:sp>
        <p:nvSpPr>
          <p:cNvPr id="472" name="Usando propriedades de  :"/>
          <p:cNvSpPr txBox="1"/>
          <p:nvPr/>
        </p:nvSpPr>
        <p:spPr>
          <a:xfrm>
            <a:off x="1206500" y="5163475"/>
            <a:ext cx="8343712" cy="97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Usando propriedades de </a:t>
            </a:r>
            <a14:m>
              <m:oMath>
                <m:r>
                  <a:rPr xmlns:a="http://schemas.openxmlformats.org/drawingml/2006/main" sz="6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⟨</m:t>
                </m:r>
                <m:r>
                  <a:rPr xmlns:a="http://schemas.openxmlformats.org/drawingml/2006/main" sz="6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⋅</m:t>
                </m:r>
                <m:r>
                  <a:rPr xmlns:a="http://schemas.openxmlformats.org/drawingml/2006/main" sz="6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⟩</m:t>
                </m:r>
              </m:oMath>
            </a14:m>
            <a:r>
              <a:t>:</a:t>
            </a:r>
          </a:p>
        </p:txBody>
      </p:sp>
      <p:sp>
        <p:nvSpPr>
          <p:cNvPr id="473" name="Equation"/>
          <p:cNvSpPr txBox="1"/>
          <p:nvPr/>
        </p:nvSpPr>
        <p:spPr>
          <a:xfrm>
            <a:off x="6073788" y="6765078"/>
            <a:ext cx="12134824" cy="12996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474" name="onde,"/>
          <p:cNvSpPr txBox="1"/>
          <p:nvPr/>
        </p:nvSpPr>
        <p:spPr>
          <a:xfrm>
            <a:off x="1206499" y="8064745"/>
            <a:ext cx="166146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onde,</a:t>
            </a:r>
          </a:p>
        </p:txBody>
      </p:sp>
      <p:sp>
        <p:nvSpPr>
          <p:cNvPr id="475" name="Equation"/>
          <p:cNvSpPr txBox="1"/>
          <p:nvPr/>
        </p:nvSpPr>
        <p:spPr>
          <a:xfrm>
            <a:off x="1206500" y="8695844"/>
            <a:ext cx="19731895" cy="170417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r>
                    <m:rPr>
                      <m:scr m:val="script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r>
                    <m:rPr>
                      <m:scr m:val="script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476" name="&amp;ct."/>
          <p:cNvSpPr txBox="1"/>
          <p:nvPr/>
        </p:nvSpPr>
        <p:spPr>
          <a:xfrm>
            <a:off x="1206500" y="10803942"/>
            <a:ext cx="1187196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&amp;ct.</a:t>
            </a:r>
          </a:p>
        </p:txBody>
      </p:sp>
      <p:sp>
        <p:nvSpPr>
          <p:cNvPr id="4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480" name="Yukawa-Kac — Desigualdades com Campo Extern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com Campo Externo</a:t>
            </a:r>
          </a:p>
        </p:txBody>
      </p:sp>
      <p:sp>
        <p:nvSpPr>
          <p:cNvPr id="481" name="Problema:   não é ferromagnético      . Então,"/>
          <p:cNvSpPr txBox="1"/>
          <p:nvPr/>
        </p:nvSpPr>
        <p:spPr>
          <a:xfrm>
            <a:off x="2329755" y="4244906"/>
            <a:ext cx="15275387" cy="97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 b="1"/>
              <a:t>Problema</a:t>
            </a:r>
            <a:r>
              <a:t>: </a:t>
            </a:r>
            <a14:m>
              <m:oMath>
                <m:r>
                  <a:rPr xmlns:a="http://schemas.openxmlformats.org/drawingml/2006/main" sz="3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j</m:t>
                </m:r>
              </m:oMath>
            </a14:m>
            <a:r>
              <a:t> não é ferromagnético  </a:t>
            </a:r>
            <a14:m>
              <m:oMath>
                <m:r>
                  <a:rPr xmlns:a="http://schemas.openxmlformats.org/drawingml/2006/main" sz="6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⇒</m:t>
                </m:r>
              </m:oMath>
            </a14:m>
            <a:r>
              <a:t>  </a:t>
            </a:r>
            <a14:m>
              <m:oMath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⟨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⋅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⟩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≤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t>. Então,</a:t>
            </a:r>
          </a:p>
        </p:txBody>
      </p:sp>
      <p:sp>
        <p:nvSpPr>
          <p:cNvPr id="482" name="Equation"/>
          <p:cNvSpPr txBox="1"/>
          <p:nvPr/>
        </p:nvSpPr>
        <p:spPr>
          <a:xfrm>
            <a:off x="8167776" y="6152577"/>
            <a:ext cx="8048449" cy="12996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483" name="Para calcular o lado direito:"/>
          <p:cNvSpPr txBox="1"/>
          <p:nvPr/>
        </p:nvSpPr>
        <p:spPr>
          <a:xfrm>
            <a:off x="2540365" y="7715984"/>
            <a:ext cx="755386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Para calcular o lado direito:</a:t>
            </a:r>
          </a:p>
        </p:txBody>
      </p:sp>
      <p:sp>
        <p:nvSpPr>
          <p:cNvPr id="484" name="Equation"/>
          <p:cNvSpPr txBox="1"/>
          <p:nvPr/>
        </p:nvSpPr>
        <p:spPr>
          <a:xfrm>
            <a:off x="7561690" y="8788154"/>
            <a:ext cx="10243961" cy="170417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r>
                    <m:rPr>
                      <m:scr m:val="script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4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488" name="Yukawa-Kac — Desigualdades com Campo Extern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com Campo Externo</a:t>
            </a:r>
          </a:p>
        </p:txBody>
      </p:sp>
      <p:sp>
        <p:nvSpPr>
          <p:cNvPr id="489" name="Equation"/>
          <p:cNvSpPr txBox="1"/>
          <p:nvPr/>
        </p:nvSpPr>
        <p:spPr>
          <a:xfrm>
            <a:off x="8492118" y="3912649"/>
            <a:ext cx="7484296" cy="162876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bSup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490" name="Usando a aproximação de   até a segunda ordem:"/>
          <p:cNvSpPr txBox="1"/>
          <p:nvPr/>
        </p:nvSpPr>
        <p:spPr>
          <a:xfrm>
            <a:off x="2895600" y="6314713"/>
            <a:ext cx="18657364" cy="1086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Usando a aproximação de </a:t>
            </a:r>
            <a14:m>
              <m:oMath>
                <m:r>
                  <m:rPr>
                    <m:sty m:val="p"/>
                  </m:rP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log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m:rPr>
                    <m:sty m:val="p"/>
                  </m:rP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cosh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γ</m:t>
                </m:r>
                <m:rad>
                  <m:radPr>
                    <m:ctrlPr>
                      <a:rPr xmlns:a="http://schemas.openxmlformats.org/drawingml/2006/main" sz="5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degHide m:val="on"/>
                  </m:radPr>
                  <m:deg/>
                  <m:e>
                    <m:r>
                      <a:rPr xmlns:a="http://schemas.openxmlformats.org/drawingml/2006/main" sz="5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β</m:t>
                    </m:r>
                  </m:e>
                </m:rad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ϕ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até a segunda ordem:</a:t>
            </a:r>
          </a:p>
        </p:txBody>
      </p:sp>
      <p:sp>
        <p:nvSpPr>
          <p:cNvPr id="491" name="Equation"/>
          <p:cNvSpPr txBox="1"/>
          <p:nvPr/>
        </p:nvSpPr>
        <p:spPr>
          <a:xfrm>
            <a:off x="8492118" y="8174584"/>
            <a:ext cx="6878130" cy="131186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4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;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492" name="onde,"/>
          <p:cNvSpPr txBox="1"/>
          <p:nvPr/>
        </p:nvSpPr>
        <p:spPr>
          <a:xfrm>
            <a:off x="2895600" y="9798686"/>
            <a:ext cx="166146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onde,</a:t>
            </a:r>
          </a:p>
        </p:txBody>
      </p:sp>
      <p:sp>
        <p:nvSpPr>
          <p:cNvPr id="493" name="Equation"/>
          <p:cNvSpPr txBox="1"/>
          <p:nvPr/>
        </p:nvSpPr>
        <p:spPr>
          <a:xfrm>
            <a:off x="10227709" y="10259741"/>
            <a:ext cx="3358956" cy="12996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den>
                  </m:f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sup>
                  </m:sSup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4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497" name="Yukawa-Kac — Desigualdades com Campo Extern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com Campo Externo</a:t>
            </a:r>
          </a:p>
        </p:txBody>
      </p:sp>
      <p:sp>
        <p:nvSpPr>
          <p:cNvPr id="498" name="Equation"/>
          <p:cNvSpPr txBox="1"/>
          <p:nvPr/>
        </p:nvSpPr>
        <p:spPr>
          <a:xfrm>
            <a:off x="5559429" y="4182943"/>
            <a:ext cx="13956563" cy="76056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3,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j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j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;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≥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</m:t>
                  </m:r>
                </m:oMath>
              </m:oMathPara>
            </a14:m>
            <a:endParaRPr sz="4800"/>
          </a:p>
        </p:txBody>
      </p:sp>
      <p:sp>
        <p:nvSpPr>
          <p:cNvPr id="499" name="Equation"/>
          <p:cNvSpPr txBox="1"/>
          <p:nvPr/>
        </p:nvSpPr>
        <p:spPr>
          <a:xfrm>
            <a:off x="3719006" y="6636589"/>
            <a:ext cx="16945988" cy="76056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⇒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;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500" name="Equation"/>
          <p:cNvSpPr txBox="1"/>
          <p:nvPr/>
        </p:nvSpPr>
        <p:spPr>
          <a:xfrm>
            <a:off x="6270009" y="9090235"/>
            <a:ext cx="11843982" cy="182248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⇒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lim>
                  </m:limLow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8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5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504" name="Yukawa-Kac — Desigualdades com Campo Extern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com Campo Externo</a:t>
            </a:r>
          </a:p>
        </p:txBody>
      </p:sp>
      <p:sp>
        <p:nvSpPr>
          <p:cNvPr id="505" name="Equation"/>
          <p:cNvSpPr txBox="1"/>
          <p:nvPr/>
        </p:nvSpPr>
        <p:spPr>
          <a:xfrm>
            <a:off x="6270009" y="3307741"/>
            <a:ext cx="10896663" cy="182248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lim>
                  </m:limLow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8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506" name="Usamos FKG duas vezes:"/>
          <p:cNvSpPr txBox="1"/>
          <p:nvPr/>
        </p:nvSpPr>
        <p:spPr>
          <a:xfrm>
            <a:off x="1206500" y="5923518"/>
            <a:ext cx="714786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Usamos FKG duas vezes:</a:t>
            </a:r>
          </a:p>
        </p:txBody>
      </p:sp>
      <p:sp>
        <p:nvSpPr>
          <p:cNvPr id="507" name="Equation"/>
          <p:cNvSpPr txBox="1"/>
          <p:nvPr/>
        </p:nvSpPr>
        <p:spPr>
          <a:xfrm>
            <a:off x="1206500" y="7838688"/>
            <a:ext cx="8185033" cy="131186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4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;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≥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</m:t>
                  </m:r>
                </m:oMath>
              </m:oMathPara>
            </a14:m>
            <a:endParaRPr sz="4800"/>
          </a:p>
        </p:txBody>
      </p:sp>
      <p:sp>
        <p:nvSpPr>
          <p:cNvPr id="508" name="Equation"/>
          <p:cNvSpPr txBox="1"/>
          <p:nvPr/>
        </p:nvSpPr>
        <p:spPr>
          <a:xfrm>
            <a:off x="4598466" y="9555451"/>
            <a:ext cx="363933" cy="49926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⇓</m:t>
                  </m:r>
                </m:oMath>
              </m:oMathPara>
            </a14:m>
            <a:endParaRPr sz="4800"/>
          </a:p>
        </p:txBody>
      </p:sp>
      <p:sp>
        <p:nvSpPr>
          <p:cNvPr id="509" name="Equation"/>
          <p:cNvSpPr txBox="1"/>
          <p:nvPr/>
        </p:nvSpPr>
        <p:spPr>
          <a:xfrm>
            <a:off x="2595028" y="10459617"/>
            <a:ext cx="4472409" cy="67707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510" name="Equation"/>
          <p:cNvSpPr txBox="1"/>
          <p:nvPr/>
        </p:nvSpPr>
        <p:spPr>
          <a:xfrm>
            <a:off x="12849972" y="7838688"/>
            <a:ext cx="8633399" cy="131186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4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;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</m:t>
                  </m:r>
                </m:oMath>
              </m:oMathPara>
            </a14:m>
            <a:endParaRPr sz="4800"/>
          </a:p>
        </p:txBody>
      </p:sp>
      <p:sp>
        <p:nvSpPr>
          <p:cNvPr id="511" name="Equation"/>
          <p:cNvSpPr txBox="1"/>
          <p:nvPr/>
        </p:nvSpPr>
        <p:spPr>
          <a:xfrm>
            <a:off x="17166671" y="9305820"/>
            <a:ext cx="363932" cy="49926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⇓</m:t>
                  </m:r>
                </m:oMath>
              </m:oMathPara>
            </a14:m>
            <a:endParaRPr sz="4800"/>
          </a:p>
        </p:txBody>
      </p:sp>
      <p:sp>
        <p:nvSpPr>
          <p:cNvPr id="512" name="Equation"/>
          <p:cNvSpPr txBox="1"/>
          <p:nvPr/>
        </p:nvSpPr>
        <p:spPr>
          <a:xfrm>
            <a:off x="15101591" y="10459617"/>
            <a:ext cx="4494093" cy="67707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5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516" name="Yukawa-Kac — Desigualdades com Campo Extern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com Campo Externo</a:t>
            </a:r>
          </a:p>
        </p:txBody>
      </p:sp>
      <p:sp>
        <p:nvSpPr>
          <p:cNvPr id="517" name="Equation"/>
          <p:cNvSpPr txBox="1"/>
          <p:nvPr/>
        </p:nvSpPr>
        <p:spPr>
          <a:xfrm>
            <a:off x="6340213" y="4063560"/>
            <a:ext cx="10041590" cy="143175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⇒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8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518" name="Para eliminar o   usamos duas propriedades:"/>
          <p:cNvSpPr txBox="1"/>
          <p:nvPr/>
        </p:nvSpPr>
        <p:spPr>
          <a:xfrm>
            <a:off x="2807787" y="5495315"/>
            <a:ext cx="12322034" cy="9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Para eliminar o </a:t>
            </a:r>
            <a14:m>
              <m:oMath>
                <m:r>
                  <a:rPr xmlns:a="http://schemas.openxmlformats.org/drawingml/2006/main" sz="6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  <a:r>
              <a:t> usamos duas propriedades:</a:t>
            </a:r>
          </a:p>
        </p:txBody>
      </p:sp>
      <p:sp>
        <p:nvSpPr>
          <p:cNvPr id="519" name="Equation"/>
          <p:cNvSpPr txBox="1"/>
          <p:nvPr/>
        </p:nvSpPr>
        <p:spPr>
          <a:xfrm>
            <a:off x="7477188" y="7337728"/>
            <a:ext cx="8553353" cy="168138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r>
                    <m:rPr>
                      <m:scr m:val="script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520" name="Equation"/>
          <p:cNvSpPr txBox="1"/>
          <p:nvPr/>
        </p:nvSpPr>
        <p:spPr>
          <a:xfrm>
            <a:off x="2807787" y="9902070"/>
            <a:ext cx="18768426" cy="223043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r>
                    <m:rPr>
                      <m:scr m:val="script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eqArr>
                        <m:eqArr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e>
                              <m:argPr>
                                <m:scrLvl m:val="1"/>
                              </m:argPr>
                              <m:r>
                                <a:rPr xmlns:a="http://schemas.openxmlformats.org/drawingml/2006/main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argPr>
                                <m:scrLvl m:val="1"/>
                              </m:argPr>
                              <m:r>
                                <a:rPr xmlns:a="http://schemas.openxmlformats.org/drawingml/2006/main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e>
                          <m:sSub>
                            <m:e>
                              <m:argPr>
                                <m:scrLvl m:val="1"/>
                              </m:argPr>
                              <m:r>
                                <a:rPr xmlns:a="http://schemas.openxmlformats.org/drawingml/2006/main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argPr>
                                <m:scrLvl m:val="1"/>
                              </m:argPr>
                              <m:r>
                                <a:rPr xmlns:a="http://schemas.openxmlformats.org/drawingml/2006/main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eqAr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r>
                    <m:rPr>
                      <m:scr m:val="script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5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524" name="Yukawa-Kac — Desigualdades com Campo Extern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com Campo Externo</a:t>
            </a:r>
          </a:p>
        </p:txBody>
      </p:sp>
      <p:sp>
        <p:nvSpPr>
          <p:cNvPr id="525" name="Equation"/>
          <p:cNvSpPr txBox="1"/>
          <p:nvPr/>
        </p:nvSpPr>
        <p:spPr>
          <a:xfrm>
            <a:off x="1206500" y="3631530"/>
            <a:ext cx="10649218" cy="169987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r>
                    <m:rPr>
                      <m:scr m:val="script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</m:oMath>
              </m:oMathPara>
            </a14:m>
            <a:endParaRPr sz="4800"/>
          </a:p>
        </p:txBody>
      </p:sp>
      <p:sp>
        <p:nvSpPr>
          <p:cNvPr id="526" name="Equation"/>
          <p:cNvSpPr txBox="1"/>
          <p:nvPr/>
        </p:nvSpPr>
        <p:spPr>
          <a:xfrm>
            <a:off x="3861189" y="6008063"/>
            <a:ext cx="17423654" cy="169987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8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r>
                    <m:rPr>
                      <m:scr m:val="script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4800"/>
          </a:p>
        </p:txBody>
      </p:sp>
      <p:sp>
        <p:nvSpPr>
          <p:cNvPr id="527" name="Equation"/>
          <p:cNvSpPr txBox="1"/>
          <p:nvPr/>
        </p:nvSpPr>
        <p:spPr>
          <a:xfrm>
            <a:off x="3861189" y="8384596"/>
            <a:ext cx="12363232" cy="169987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8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r>
                    <m:rPr>
                      <m:scr m:val="script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5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531" name="Yukawa-Kac — Desigualdades com Campo Extern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com Campo Externo</a:t>
            </a:r>
          </a:p>
        </p:txBody>
      </p:sp>
      <p:sp>
        <p:nvSpPr>
          <p:cNvPr id="532" name="Equation"/>
          <p:cNvSpPr txBox="1"/>
          <p:nvPr/>
        </p:nvSpPr>
        <p:spPr>
          <a:xfrm>
            <a:off x="1206500" y="3631530"/>
            <a:ext cx="10649218" cy="169987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r>
                    <m:rPr>
                      <m:scr m:val="script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</m:oMath>
              </m:oMathPara>
            </a14:m>
            <a:endParaRPr sz="4800"/>
          </a:p>
        </p:txBody>
      </p:sp>
      <p:sp>
        <p:nvSpPr>
          <p:cNvPr id="533" name="Equation"/>
          <p:cNvSpPr txBox="1"/>
          <p:nvPr/>
        </p:nvSpPr>
        <p:spPr>
          <a:xfrm>
            <a:off x="11855716" y="3631530"/>
            <a:ext cx="11664969" cy="169987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8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r>
                    <m:rPr>
                      <m:scr m:val="script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534" name="Usamos, novamente, FKG duas vezes:"/>
          <p:cNvSpPr txBox="1"/>
          <p:nvPr/>
        </p:nvSpPr>
        <p:spPr>
          <a:xfrm>
            <a:off x="1206499" y="6453784"/>
            <a:ext cx="1068293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Usamos, novamente, FKG duas vezes:</a:t>
            </a:r>
          </a:p>
        </p:txBody>
      </p:sp>
      <p:sp>
        <p:nvSpPr>
          <p:cNvPr id="535" name="Equation"/>
          <p:cNvSpPr txBox="1"/>
          <p:nvPr/>
        </p:nvSpPr>
        <p:spPr>
          <a:xfrm>
            <a:off x="1206500" y="8384597"/>
            <a:ext cx="5735501" cy="76056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≥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</m:t>
                  </m:r>
                </m:oMath>
              </m:oMathPara>
            </a14:m>
            <a:endParaRPr sz="4800"/>
          </a:p>
        </p:txBody>
      </p:sp>
      <p:sp>
        <p:nvSpPr>
          <p:cNvPr id="536" name="Equation"/>
          <p:cNvSpPr txBox="1"/>
          <p:nvPr/>
        </p:nvSpPr>
        <p:spPr>
          <a:xfrm>
            <a:off x="3710319" y="9663627"/>
            <a:ext cx="363932" cy="49926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⇓</m:t>
                  </m:r>
                </m:oMath>
              </m:oMathPara>
            </a14:m>
            <a:endParaRPr sz="4800"/>
          </a:p>
        </p:txBody>
      </p:sp>
      <p:sp>
        <p:nvSpPr>
          <p:cNvPr id="537" name="Equation"/>
          <p:cNvSpPr txBox="1"/>
          <p:nvPr/>
        </p:nvSpPr>
        <p:spPr>
          <a:xfrm>
            <a:off x="718569" y="10621821"/>
            <a:ext cx="6694808" cy="77155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538" name="Equation"/>
          <p:cNvSpPr txBox="1"/>
          <p:nvPr/>
        </p:nvSpPr>
        <p:spPr>
          <a:xfrm>
            <a:off x="16028381" y="9913259"/>
            <a:ext cx="3421240" cy="70856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5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542" name="Yukawa-Kac — Desigualdades com Campo Extern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com Campo Externo</a:t>
            </a:r>
          </a:p>
        </p:txBody>
      </p:sp>
      <p:sp>
        <p:nvSpPr>
          <p:cNvPr id="543" name="Equation"/>
          <p:cNvSpPr txBox="1"/>
          <p:nvPr/>
        </p:nvSpPr>
        <p:spPr>
          <a:xfrm>
            <a:off x="2895600" y="6008063"/>
            <a:ext cx="10649218" cy="169987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r>
                    <m:rPr>
                      <m:scr m:val="script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</m:oMath>
              </m:oMathPara>
            </a14:m>
            <a:endParaRPr sz="4800"/>
          </a:p>
        </p:txBody>
      </p:sp>
      <p:sp>
        <p:nvSpPr>
          <p:cNvPr id="544" name="Por fim:"/>
          <p:cNvSpPr txBox="1"/>
          <p:nvPr/>
        </p:nvSpPr>
        <p:spPr>
          <a:xfrm>
            <a:off x="2895600" y="4018601"/>
            <a:ext cx="2236928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Por fim:</a:t>
            </a:r>
          </a:p>
        </p:txBody>
      </p:sp>
      <p:sp>
        <p:nvSpPr>
          <p:cNvPr id="545" name="Equation"/>
          <p:cNvSpPr txBox="1"/>
          <p:nvPr/>
        </p:nvSpPr>
        <p:spPr>
          <a:xfrm>
            <a:off x="13959521" y="6276180"/>
            <a:ext cx="6761466" cy="143175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8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546" name="O outro termo de   é análogo — assim como   e  ."/>
          <p:cNvSpPr txBox="1"/>
          <p:nvPr/>
        </p:nvSpPr>
        <p:spPr>
          <a:xfrm>
            <a:off x="2895600" y="9700473"/>
            <a:ext cx="15172043" cy="1004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 outro termo de </a:t>
            </a:r>
            <a14:m>
              <m:oMath>
                <m:sSub>
                  <m:e>
                    <m:r>
                      <a:rPr xmlns:a="http://schemas.openxmlformats.org/drawingml/2006/main" sz="5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</m:e>
                  <m:sub>
                    <m:r>
                      <a:rPr xmlns:a="http://schemas.openxmlformats.org/drawingml/2006/main" sz="5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12</m:t>
                    </m:r>
                  </m:sub>
                </m:sSub>
              </m:oMath>
            </a14:m>
            <a:r>
              <a:t> é análogo — assim como </a:t>
            </a:r>
            <a14:m>
              <m:oMath>
                <m:sSub>
                  <m:e>
                    <m:r>
                      <a:rPr xmlns:a="http://schemas.openxmlformats.org/drawingml/2006/main" sz="5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</m:e>
                  <m:sub>
                    <m:r>
                      <a:rPr xmlns:a="http://schemas.openxmlformats.org/drawingml/2006/main" sz="5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13</m:t>
                    </m:r>
                  </m:sub>
                </m:sSub>
              </m:oMath>
            </a14:m>
            <a:r>
              <a:t> e </a:t>
            </a:r>
            <a14:m>
              <m:oMath>
                <m:sSub>
                  <m:e>
                    <m:r>
                      <a:rPr xmlns:a="http://schemas.openxmlformats.org/drawingml/2006/main" sz="5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</m:e>
                  <m:sub>
                    <m:r>
                      <a:rPr xmlns:a="http://schemas.openxmlformats.org/drawingml/2006/main" sz="5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23</m:t>
                    </m:r>
                  </m:sub>
                </m:sSub>
              </m:oMath>
            </a14:m>
            <a:r>
              <a:t>.</a:t>
            </a:r>
          </a:p>
        </p:txBody>
      </p:sp>
      <p:sp>
        <p:nvSpPr>
          <p:cNvPr id="5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550" name="Yukawa-Kac — Desigualdades com Campo Extern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Desigualdades com Campo Externo</a:t>
            </a:r>
          </a:p>
        </p:txBody>
      </p:sp>
      <p:sp>
        <p:nvSpPr>
          <p:cNvPr id="551" name="Equation"/>
          <p:cNvSpPr txBox="1"/>
          <p:nvPr/>
        </p:nvSpPr>
        <p:spPr>
          <a:xfrm>
            <a:off x="7924278" y="5796983"/>
            <a:ext cx="8535444" cy="141424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den>
                  </m:f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552" name="Então,"/>
          <p:cNvSpPr txBox="1"/>
          <p:nvPr/>
        </p:nvSpPr>
        <p:spPr>
          <a:xfrm>
            <a:off x="2895600" y="4018601"/>
            <a:ext cx="1864462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Então,</a:t>
            </a:r>
          </a:p>
        </p:txBody>
      </p:sp>
      <p:sp>
        <p:nvSpPr>
          <p:cNvPr id="553" name="onde,"/>
          <p:cNvSpPr txBox="1"/>
          <p:nvPr/>
        </p:nvSpPr>
        <p:spPr>
          <a:xfrm>
            <a:off x="2895600" y="7211231"/>
            <a:ext cx="166146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onde,</a:t>
            </a:r>
          </a:p>
        </p:txBody>
      </p:sp>
      <p:sp>
        <p:nvSpPr>
          <p:cNvPr id="554" name="Equation"/>
          <p:cNvSpPr txBox="1"/>
          <p:nvPr/>
        </p:nvSpPr>
        <p:spPr>
          <a:xfrm>
            <a:off x="2895600" y="8371051"/>
            <a:ext cx="14331571" cy="155215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[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4800"/>
          </a:p>
        </p:txBody>
      </p:sp>
      <p:sp>
        <p:nvSpPr>
          <p:cNvPr id="555" name="Equation"/>
          <p:cNvSpPr txBox="1"/>
          <p:nvPr/>
        </p:nvSpPr>
        <p:spPr>
          <a:xfrm>
            <a:off x="7799501" y="10084863"/>
            <a:ext cx="8784998" cy="112532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4800"/>
          </a:p>
        </p:txBody>
      </p:sp>
      <p:sp>
        <p:nvSpPr>
          <p:cNvPr id="556" name="Equation"/>
          <p:cNvSpPr txBox="1"/>
          <p:nvPr/>
        </p:nvSpPr>
        <p:spPr>
          <a:xfrm>
            <a:off x="7799501" y="11535734"/>
            <a:ext cx="9499043" cy="112532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⟨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]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5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560" name="Yukawa-Kac — Comparação com CM"/>
          <p:cNvSpPr txBox="1"/>
          <p:nvPr>
            <p:ph type="body" idx="13"/>
          </p:nvPr>
        </p:nvSpPr>
        <p:spPr>
          <a:xfrm>
            <a:off x="1206500" y="6390610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Comparação com CM</a:t>
            </a:r>
          </a:p>
        </p:txBody>
      </p:sp>
      <p:sp>
        <p:nvSpPr>
          <p:cNvPr id="5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564" name="Yukawa-Kac — Comparação com CM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Comparação com CM</a:t>
            </a:r>
          </a:p>
        </p:txBody>
      </p:sp>
      <p:sp>
        <p:nvSpPr>
          <p:cNvPr id="565" name="Yukawa-Kac"/>
          <p:cNvSpPr txBox="1"/>
          <p:nvPr/>
        </p:nvSpPr>
        <p:spPr>
          <a:xfrm>
            <a:off x="2895600" y="4229212"/>
            <a:ext cx="353476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Yukawa-Kac</a:t>
            </a:r>
          </a:p>
        </p:txBody>
      </p:sp>
      <p:sp>
        <p:nvSpPr>
          <p:cNvPr id="566" name="Campo Médio"/>
          <p:cNvSpPr txBox="1"/>
          <p:nvPr/>
        </p:nvSpPr>
        <p:spPr>
          <a:xfrm>
            <a:off x="14875713" y="4229212"/>
            <a:ext cx="398770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Campo Médio</a:t>
            </a:r>
          </a:p>
        </p:txBody>
      </p:sp>
      <p:sp>
        <p:nvSpPr>
          <p:cNvPr id="567" name="Equation"/>
          <p:cNvSpPr txBox="1"/>
          <p:nvPr/>
        </p:nvSpPr>
        <p:spPr>
          <a:xfrm>
            <a:off x="1008279" y="5959114"/>
            <a:ext cx="9356401" cy="167821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σ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J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;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568" name="Equation"/>
          <p:cNvSpPr txBox="1"/>
          <p:nvPr/>
        </p:nvSpPr>
        <p:spPr>
          <a:xfrm>
            <a:off x="13391281" y="5770303"/>
            <a:ext cx="9442420" cy="186702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σ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sub>
                      </m:sSub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569" name="onde,"/>
          <p:cNvSpPr txBox="1"/>
          <p:nvPr/>
        </p:nvSpPr>
        <p:spPr>
          <a:xfrm>
            <a:off x="2895600" y="8558796"/>
            <a:ext cx="166146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onde,</a:t>
            </a:r>
          </a:p>
        </p:txBody>
      </p:sp>
      <p:sp>
        <p:nvSpPr>
          <p:cNvPr id="570" name="Equation"/>
          <p:cNvSpPr txBox="1"/>
          <p:nvPr/>
        </p:nvSpPr>
        <p:spPr>
          <a:xfrm>
            <a:off x="1206500" y="10288698"/>
            <a:ext cx="10591095" cy="76012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J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;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Δ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571" name="Equation"/>
          <p:cNvSpPr txBox="1"/>
          <p:nvPr/>
        </p:nvSpPr>
        <p:spPr>
          <a:xfrm>
            <a:off x="13157269" y="10099886"/>
            <a:ext cx="5471293" cy="134692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J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J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572" name="Equation"/>
          <p:cNvSpPr txBox="1"/>
          <p:nvPr/>
        </p:nvSpPr>
        <p:spPr>
          <a:xfrm>
            <a:off x="1206500" y="11613094"/>
            <a:ext cx="4348955" cy="153223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limUp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˜</m:t>
                          </m:r>
                        </m:lim>
                      </m:limUpp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limUp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˜</m:t>
                      </m:r>
                    </m:lim>
                  </m:limUp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≥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0.</m:t>
                  </m:r>
                </m:oMath>
              </m:oMathPara>
            </a14:m>
            <a:endParaRPr sz="4800"/>
          </a:p>
        </p:txBody>
      </p:sp>
      <p:sp>
        <p:nvSpPr>
          <p:cNvPr id="5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576" name="Yukawa-Kac — Comparação com CM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Comparação com CM</a:t>
            </a:r>
          </a:p>
        </p:txBody>
      </p:sp>
      <p:sp>
        <p:nvSpPr>
          <p:cNvPr id="577" name="Yukawa-Kac"/>
          <p:cNvSpPr txBox="1"/>
          <p:nvPr/>
        </p:nvSpPr>
        <p:spPr>
          <a:xfrm>
            <a:off x="2895600" y="4229212"/>
            <a:ext cx="353476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Yukawa-Kac</a:t>
            </a:r>
          </a:p>
        </p:txBody>
      </p:sp>
      <p:sp>
        <p:nvSpPr>
          <p:cNvPr id="578" name="Campo Médio"/>
          <p:cNvSpPr txBox="1"/>
          <p:nvPr/>
        </p:nvSpPr>
        <p:spPr>
          <a:xfrm>
            <a:off x="14875713" y="4229212"/>
            <a:ext cx="398770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Campo Médio</a:t>
            </a:r>
          </a:p>
        </p:txBody>
      </p:sp>
      <p:sp>
        <p:nvSpPr>
          <p:cNvPr id="579" name="onde,"/>
          <p:cNvSpPr txBox="1"/>
          <p:nvPr/>
        </p:nvSpPr>
        <p:spPr>
          <a:xfrm>
            <a:off x="2895600" y="7926964"/>
            <a:ext cx="1661465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onde,</a:t>
            </a:r>
          </a:p>
        </p:txBody>
      </p:sp>
      <p:sp>
        <p:nvSpPr>
          <p:cNvPr id="580" name="Equation"/>
          <p:cNvSpPr txBox="1"/>
          <p:nvPr/>
        </p:nvSpPr>
        <p:spPr>
          <a:xfrm>
            <a:off x="14852090" y="5608794"/>
            <a:ext cx="3626003" cy="65365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bar>
                        <m:bar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</m:ba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</m:bar>
                  <m:sSub>
                    <m:e>
                      <m:bar>
                        <m:bar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</m:ba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0,</m:t>
                  </m:r>
                </m:oMath>
              </m:oMathPara>
            </a14:m>
            <a:endParaRPr sz="4800"/>
          </a:p>
        </p:txBody>
      </p:sp>
      <p:sp>
        <p:nvSpPr>
          <p:cNvPr id="581" name="Equation"/>
          <p:cNvSpPr txBox="1"/>
          <p:nvPr/>
        </p:nvSpPr>
        <p:spPr>
          <a:xfrm>
            <a:off x="14852090" y="6510595"/>
            <a:ext cx="6843062" cy="57525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</m:ba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tanh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582" name="Equation"/>
          <p:cNvSpPr txBox="1"/>
          <p:nvPr/>
        </p:nvSpPr>
        <p:spPr>
          <a:xfrm>
            <a:off x="2087852" y="5604093"/>
            <a:ext cx="5888629" cy="65835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583" name="Equation"/>
          <p:cNvSpPr txBox="1"/>
          <p:nvPr/>
        </p:nvSpPr>
        <p:spPr>
          <a:xfrm>
            <a:off x="2087852" y="6510595"/>
            <a:ext cx="7005352" cy="57525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tanh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: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584" name="Equation"/>
          <p:cNvSpPr txBox="1"/>
          <p:nvPr/>
        </p:nvSpPr>
        <p:spPr>
          <a:xfrm>
            <a:off x="2087852" y="9576517"/>
            <a:ext cx="11636133" cy="167699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den>
                  </m:f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sup>
                  </m:sSup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e>
                    <m:sup>
                      <m:f>
                        <m:f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type m:val="lin"/>
                        </m:fPr>
                        <m:nu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sup>
                  </m:sSup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J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;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5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Equ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Equações</a:t>
            </a:r>
          </a:p>
        </p:txBody>
      </p:sp>
      <p:sp>
        <p:nvSpPr>
          <p:cNvPr id="588" name="Yukawa-Kac — Comparação com CM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Yukawa-Kac — Comparação com CM</a:t>
            </a:r>
          </a:p>
        </p:txBody>
      </p:sp>
      <p:sp>
        <p:nvSpPr>
          <p:cNvPr id="589" name="Equation"/>
          <p:cNvSpPr txBox="1"/>
          <p:nvPr/>
        </p:nvSpPr>
        <p:spPr>
          <a:xfrm>
            <a:off x="7510053" y="3682159"/>
            <a:ext cx="9363894" cy="16296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</m:ba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bar>
                        <m:bar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</m:bar>
                    </m:num>
                    <m:den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den>
                  </m:f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sup>
                  </m:sSubSup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u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u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</m:ba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590" name="Equation"/>
          <p:cNvSpPr txBox="1"/>
          <p:nvPr/>
        </p:nvSpPr>
        <p:spPr>
          <a:xfrm>
            <a:off x="1206500" y="5803702"/>
            <a:ext cx="11737732" cy="167699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den>
                  </m:f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sup>
                  </m:sSup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e>
                    <m:sup>
                      <m:f>
                        <m:f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type m:val="lin"/>
                        </m:fPr>
                        <m:nu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sup>
                  </m:sSup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J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;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591" name="O termo   vai à zero quando  , e  ,…"/>
          <p:cNvSpPr txBox="1"/>
          <p:nvPr/>
        </p:nvSpPr>
        <p:spPr>
          <a:xfrm>
            <a:off x="1206500" y="7972603"/>
            <a:ext cx="17422417" cy="2673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 termo </a:t>
            </a:r>
            <a14:m>
              <m:oMath>
                <m:sSub>
                  <m:e>
                    <m:r>
                      <a:rPr xmlns:a="http://schemas.openxmlformats.org/drawingml/2006/main" sz="5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</m:e>
                  <m:sub>
                    <m:r>
                      <a:rPr xmlns:a="http://schemas.openxmlformats.org/drawingml/2006/main" sz="5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xmlns:a="http://schemas.openxmlformats.org/drawingml/2006/main" sz="5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xmlns:a="http://schemas.openxmlformats.org/drawingml/2006/main" sz="5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xmlns:a="http://schemas.openxmlformats.org/drawingml/2006/main" sz="5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xmlns:a="http://schemas.openxmlformats.org/drawingml/2006/main" sz="5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sub>
                </m:sSub>
              </m:oMath>
            </a14:m>
            <a:r>
              <a:t> vai à zero quando </a:t>
            </a:r>
            <a14:m>
              <m:oMath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γ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→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t>, e </a:t>
            </a:r>
            <a14:m>
              <m:oMath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∑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J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;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γ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  <a:r>
              <a:t>, </a:t>
            </a:r>
          </a:p>
          <a:p>
            <a:pPr/>
            <a:r>
              <a:t>então </a:t>
            </a:r>
            <a14:m>
              <m:oMath>
                <m:sSub>
                  <m:e>
                    <m:r>
                      <a:rPr xmlns:a="http://schemas.openxmlformats.org/drawingml/2006/main" sz="5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</m:e>
                  <m:sub>
                    <m:r>
                      <a:rPr xmlns:a="http://schemas.openxmlformats.org/drawingml/2006/main" sz="5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γ</m:t>
                    </m:r>
                  </m:sub>
                </m:sSub>
              </m:oMath>
            </a14:m>
            <a:r>
              <a:t> vai à zero com </a:t>
            </a:r>
            <a14:m>
              <m:oMath>
                <m:sSup>
                  <m:e>
                    <m:r>
                      <a:rPr xmlns:a="http://schemas.openxmlformats.org/drawingml/2006/main" sz="6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γ</m:t>
                    </m:r>
                  </m:e>
                  <m:sup>
                    <m:r>
                      <a:rPr xmlns:a="http://schemas.openxmlformats.org/drawingml/2006/main" sz="6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7</m:t>
                    </m:r>
                  </m:sup>
                </m:sSup>
              </m:oMath>
            </a14:m>
            <a:r>
              <a:t>.</a:t>
            </a:r>
          </a:p>
        </p:txBody>
      </p:sp>
      <p:sp>
        <p:nvSpPr>
          <p:cNvPr id="592" name="Equation"/>
          <p:cNvSpPr txBox="1"/>
          <p:nvPr/>
        </p:nvSpPr>
        <p:spPr>
          <a:xfrm>
            <a:off x="9261720" y="11600259"/>
            <a:ext cx="5860560" cy="43464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⇒</m:t>
                  </m:r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</m:ba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bar>
                    <m:bar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</m:ba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ε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5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arte II : Grupo de Renormalização"/>
          <p:cNvSpPr txBox="1"/>
          <p:nvPr>
            <p:ph type="title"/>
          </p:nvPr>
        </p:nvSpPr>
        <p:spPr>
          <a:xfrm>
            <a:off x="1206500" y="1079972"/>
            <a:ext cx="21971000" cy="1434950"/>
          </a:xfrm>
          <a:prstGeom prst="rect">
            <a:avLst/>
          </a:prstGeom>
        </p:spPr>
        <p:txBody>
          <a:bodyPr/>
          <a:lstStyle>
            <a:lvl1pPr defTabSz="1828754">
              <a:defRPr b="0" spc="-174" sz="87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Parte II : Grupo de Renormalização</a:t>
            </a:r>
          </a:p>
        </p:txBody>
      </p:sp>
      <p:sp>
        <p:nvSpPr>
          <p:cNvPr id="59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599" name="Introduçã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Introdução</a:t>
            </a:r>
          </a:p>
        </p:txBody>
      </p:sp>
      <p:sp>
        <p:nvSpPr>
          <p:cNvPr id="600" name="Modelo: spins   em"/>
          <p:cNvSpPr txBox="1"/>
          <p:nvPr/>
        </p:nvSpPr>
        <p:spPr>
          <a:xfrm>
            <a:off x="2895600" y="3912855"/>
            <a:ext cx="5629081" cy="959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 b="1"/>
              <a:t>Modelo</a:t>
            </a:r>
            <a:r>
              <a:t>: spins </a:t>
            </a:r>
            <a14:m>
              <m:oMath>
                <m:r>
                  <a:rPr xmlns:a="http://schemas.openxmlformats.org/drawingml/2006/main" sz="5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σ</m:t>
                </m:r>
              </m:oMath>
            </a14:m>
            <a:r>
              <a:t> em</a:t>
            </a:r>
          </a:p>
        </p:txBody>
      </p:sp>
      <p:sp>
        <p:nvSpPr>
          <p:cNvPr id="601" name="Equation"/>
          <p:cNvSpPr txBox="1"/>
          <p:nvPr/>
        </p:nvSpPr>
        <p:spPr>
          <a:xfrm>
            <a:off x="10018715" y="5099803"/>
            <a:ext cx="4346570" cy="56492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e>
                    <m:sub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∋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σ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: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Λ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→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Ω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602" name="onde   compacto e  ."/>
          <p:cNvSpPr txBox="1"/>
          <p:nvPr/>
        </p:nvSpPr>
        <p:spPr>
          <a:xfrm>
            <a:off x="2895600" y="6378271"/>
            <a:ext cx="11298016" cy="959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onde </a:t>
            </a:r>
            <a14:m>
              <m:oMath>
                <m:r>
                  <m:rPr>
                    <m:sty m:val="p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Λ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⊂</m:t>
                </m:r>
                <m:sSup>
                  <m:e>
                    <m:r>
                      <m:rPr>
                        <m:sty m:val="p"/>
                        <m:scr m:val="double-struck"/>
                      </m:rP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</m:e>
                  <m:sup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</m:sup>
                </m:sSup>
              </m:oMath>
            </a14:m>
            <a:r>
              <a:t> compacto e </a:t>
            </a:r>
            <a14:m>
              <m:oMath>
                <m:r>
                  <m:rPr>
                    <m:sty m:val="p"/>
                  </m:rP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Ω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{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1,1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}</m:t>
                </m:r>
              </m:oMath>
            </a14:m>
            <a:r>
              <a:t>.</a:t>
            </a:r>
          </a:p>
        </p:txBody>
      </p:sp>
      <p:sp>
        <p:nvSpPr>
          <p:cNvPr id="603" name="Função de partição grand canônica:"/>
          <p:cNvSpPr txBox="1"/>
          <p:nvPr/>
        </p:nvSpPr>
        <p:spPr>
          <a:xfrm>
            <a:off x="2895600" y="8051273"/>
            <a:ext cx="995995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Função de partição grand canônica:</a:t>
            </a:r>
          </a:p>
        </p:txBody>
      </p:sp>
      <p:sp>
        <p:nvSpPr>
          <p:cNvPr id="604" name="Equation"/>
          <p:cNvSpPr txBox="1"/>
          <p:nvPr/>
        </p:nvSpPr>
        <p:spPr>
          <a:xfrm>
            <a:off x="5411222" y="9573250"/>
            <a:ext cx="13561557" cy="181283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e>
                    <m:sub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lim>
                  </m:limLow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p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</m:den>
                  </m:f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sSup>
                        <m:e>
                          <m:r>
                            <m:rPr>
                              <m:sty m:val="p"/>
                            </m:r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p>
                    </m:sub>
                  </m:sSub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exp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limUpp>
                    <m:e>
                      <m:limLow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lim>
                  </m:limUpp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…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60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608" name="Introdução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Introdução</a:t>
            </a:r>
          </a:p>
        </p:txBody>
      </p:sp>
      <p:sp>
        <p:nvSpPr>
          <p:cNvPr id="609" name="Função de partição grand canônica:"/>
          <p:cNvSpPr txBox="1"/>
          <p:nvPr/>
        </p:nvSpPr>
        <p:spPr>
          <a:xfrm>
            <a:off x="2895600" y="3839066"/>
            <a:ext cx="995995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Função de partição grand canônica:</a:t>
            </a:r>
          </a:p>
        </p:txBody>
      </p:sp>
      <p:sp>
        <p:nvSpPr>
          <p:cNvPr id="610" name="Equation"/>
          <p:cNvSpPr txBox="1"/>
          <p:nvPr/>
        </p:nvSpPr>
        <p:spPr>
          <a:xfrm>
            <a:off x="5220722" y="5178822"/>
            <a:ext cx="13561558" cy="181283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e>
                    <m:sub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lim>
                  </m:limLow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p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</m:den>
                  </m:f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sSup>
                        <m:e>
                          <m:r>
                            <m:rPr>
                              <m:sty m:val="p"/>
                            </m:r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p>
                    </m:sub>
                  </m:sSub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exp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limUpp>
                    <m:e>
                      <m:limLow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lim>
                  </m:limUpp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…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6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12" name="onde,"/>
          <p:cNvSpPr txBox="1"/>
          <p:nvPr/>
        </p:nvSpPr>
        <p:spPr>
          <a:xfrm>
            <a:off x="2895600" y="6991656"/>
            <a:ext cx="1661465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onde,</a:t>
            </a:r>
          </a:p>
        </p:txBody>
      </p:sp>
      <p:sp>
        <p:nvSpPr>
          <p:cNvPr id="613" name="Equation"/>
          <p:cNvSpPr txBox="1"/>
          <p:nvPr/>
        </p:nvSpPr>
        <p:spPr>
          <a:xfrm>
            <a:off x="3116524" y="8268319"/>
            <a:ext cx="2881082" cy="54620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exp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μ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4800"/>
          </a:p>
        </p:txBody>
      </p:sp>
      <p:sp>
        <p:nvSpPr>
          <p:cNvPr id="614" name="e   potencial de Yukawa-Kac com caroço duro:"/>
          <p:cNvSpPr txBox="1"/>
          <p:nvPr/>
        </p:nvSpPr>
        <p:spPr>
          <a:xfrm>
            <a:off x="6708712" y="7988801"/>
            <a:ext cx="13365525" cy="110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 </a:t>
            </a:r>
            <a14:m>
              <m:oMath>
                <m:sSub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ϕ</m:t>
                    </m:r>
                  </m:e>
                  <m:sub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γ</m:t>
                    </m:r>
                  </m:sub>
                </m:sSub>
              </m:oMath>
            </a14:m>
            <a:r>
              <a:t> potencial de Yukawa-Kac com caroço duro:</a:t>
            </a:r>
          </a:p>
        </p:txBody>
      </p:sp>
      <p:sp>
        <p:nvSpPr>
          <p:cNvPr id="615" name="Equation"/>
          <p:cNvSpPr txBox="1"/>
          <p:nvPr/>
        </p:nvSpPr>
        <p:spPr>
          <a:xfrm>
            <a:off x="2895600" y="9920529"/>
            <a:ext cx="8012699" cy="65835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;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616" name="onde   é zero se   e infinito se  ,"/>
          <p:cNvSpPr txBox="1"/>
          <p:nvPr/>
        </p:nvSpPr>
        <p:spPr>
          <a:xfrm>
            <a:off x="11095591" y="9575591"/>
            <a:ext cx="12137993" cy="1003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onde </a:t>
            </a:r>
            <a14:m>
              <m:oMath>
                <m:sSub>
                  <m:e>
                    <m:r>
                      <a:rPr xmlns:a="http://schemas.openxmlformats.org/drawingml/2006/main" sz="5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ϕ</m:t>
                    </m:r>
                  </m:e>
                  <m:sub>
                    <m:r>
                      <a:rPr xmlns:a="http://schemas.openxmlformats.org/drawingml/2006/main" sz="5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5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sub>
                </m:sSub>
              </m:oMath>
            </a14:m>
            <a:r>
              <a:t> é zero se </a:t>
            </a:r>
            <a14:m>
              <m:oMath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≠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</m:oMath>
            </a14:m>
            <a:r>
              <a:t> e infinito se </a:t>
            </a:r>
            <a14:m>
              <m:oMath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</m:oMath>
            </a14:m>
            <a:r>
              <a:t>,</a:t>
            </a:r>
          </a:p>
        </p:txBody>
      </p:sp>
      <p:sp>
        <p:nvSpPr>
          <p:cNvPr id="617" name="Equation"/>
          <p:cNvSpPr txBox="1"/>
          <p:nvPr/>
        </p:nvSpPr>
        <p:spPr>
          <a:xfrm>
            <a:off x="8056058" y="11405369"/>
            <a:ext cx="7890883" cy="67399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Δ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620" name="GR contínuo"/>
          <p:cNvSpPr txBox="1"/>
          <p:nvPr>
            <p:ph type="body" idx="13"/>
          </p:nvPr>
        </p:nvSpPr>
        <p:spPr>
          <a:xfrm>
            <a:off x="1206500" y="5923221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GR contínuo</a:t>
            </a:r>
          </a:p>
        </p:txBody>
      </p:sp>
      <p:sp>
        <p:nvSpPr>
          <p:cNvPr id="6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624" name="GR contínuo"/>
          <p:cNvSpPr txBox="1"/>
          <p:nvPr>
            <p:ph type="body" idx="13"/>
          </p:nvPr>
        </p:nvSpPr>
        <p:spPr>
          <a:xfrm>
            <a:off x="1206500" y="2374900"/>
            <a:ext cx="21971000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GR contínuo</a:t>
            </a:r>
          </a:p>
        </p:txBody>
      </p:sp>
      <p:sp>
        <p:nvSpPr>
          <p:cNvPr id="6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26" name="Brydges-Kennedy: GR aplicado de forma contínua:"/>
          <p:cNvSpPr txBox="1"/>
          <p:nvPr/>
        </p:nvSpPr>
        <p:spPr>
          <a:xfrm>
            <a:off x="2895600" y="3807991"/>
            <a:ext cx="1403634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Brydges-Kennedy: GR aplicado de forma contínua:</a:t>
            </a:r>
          </a:p>
        </p:txBody>
      </p:sp>
      <p:sp>
        <p:nvSpPr>
          <p:cNvPr id="627" name="Decompomos o potencial   em   de modo que"/>
          <p:cNvSpPr txBox="1"/>
          <p:nvPr/>
        </p:nvSpPr>
        <p:spPr>
          <a:xfrm>
            <a:off x="2895600" y="5114735"/>
            <a:ext cx="14403304" cy="1105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Decompomos o potencial </a:t>
            </a:r>
            <a14:m>
              <m:oMath>
                <m:sSub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ϕ</m:t>
                    </m:r>
                  </m:e>
                  <m:sub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γ</m:t>
                    </m:r>
                  </m:sub>
                </m:sSub>
              </m:oMath>
            </a14:m>
            <a:r>
              <a:t> em </a:t>
            </a:r>
            <a14:m>
              <m:oMath>
                <m:sSub>
                  <m:e>
                    <m:limUpp>
                      <m:e>
                        <m:r>
                          <a:rPr xmlns:a="http://schemas.openxmlformats.org/drawingml/2006/main" sz="5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lim>
                        <m:r>
                          <a:rPr xmlns:a="http://schemas.openxmlformats.org/drawingml/2006/main" sz="5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</m:lim>
                    </m:limUpp>
                  </m:e>
                  <m:sub>
                    <m:r>
                      <a:rPr xmlns:a="http://schemas.openxmlformats.org/drawingml/2006/main" sz="5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γ</m:t>
                    </m:r>
                  </m:sub>
                </m:sSub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s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de modo que</a:t>
            </a:r>
          </a:p>
        </p:txBody>
      </p:sp>
      <p:sp>
        <p:nvSpPr>
          <p:cNvPr id="628" name="Equation"/>
          <p:cNvSpPr txBox="1"/>
          <p:nvPr/>
        </p:nvSpPr>
        <p:spPr>
          <a:xfrm>
            <a:off x="9015896" y="6718286"/>
            <a:ext cx="6340219" cy="163049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sup>
                  </m:sSubSup>
                  <m:sSub>
                    <m:e>
                      <m:limUp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;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631" name="GR contínuo"/>
          <p:cNvSpPr txBox="1"/>
          <p:nvPr>
            <p:ph type="body" idx="13"/>
          </p:nvPr>
        </p:nvSpPr>
        <p:spPr>
          <a:xfrm>
            <a:off x="1206500" y="2374900"/>
            <a:ext cx="21971000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GR contínuo</a:t>
            </a:r>
          </a:p>
        </p:txBody>
      </p:sp>
      <p:sp>
        <p:nvSpPr>
          <p:cNvPr id="6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33" name="Brydges-Kennedy: se   for estável, i.e.,"/>
          <p:cNvSpPr txBox="1"/>
          <p:nvPr/>
        </p:nvSpPr>
        <p:spPr>
          <a:xfrm>
            <a:off x="2895600" y="3659588"/>
            <a:ext cx="11143801" cy="1105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Brydges-Kennedy: se </a:t>
            </a:r>
            <a14:m>
              <m:oMath>
                <m:sSub>
                  <m:e>
                    <m:limUpp>
                      <m:e>
                        <m:r>
                          <a:rPr xmlns:a="http://schemas.openxmlformats.org/drawingml/2006/main"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lim>
                        <m:r>
                          <a:rPr xmlns:a="http://schemas.openxmlformats.org/drawingml/2006/main"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</m:lim>
                    </m:limUpp>
                  </m:e>
                  <m:sub>
                    <m:r>
                      <a:rPr xmlns:a="http://schemas.openxmlformats.org/drawingml/2006/main"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γ</m:t>
                    </m:r>
                  </m:sub>
                </m:sSub>
              </m:oMath>
            </a14:m>
            <a:r>
              <a:t> for estável, i.e.,</a:t>
            </a:r>
          </a:p>
        </p:txBody>
      </p:sp>
      <p:sp>
        <p:nvSpPr>
          <p:cNvPr id="634" name="Equation"/>
          <p:cNvSpPr txBox="1"/>
          <p:nvPr/>
        </p:nvSpPr>
        <p:spPr>
          <a:xfrm>
            <a:off x="5730324" y="5114735"/>
            <a:ext cx="12923352" cy="167742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limUp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</m:lim>
                  </m:limUp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…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;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lim>
                  </m:limLow>
                  <m:sSub>
                    <m:e>
                      <m:limUp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;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≥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&gt;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0,</m:t>
                  </m:r>
                </m:oMath>
              </m:oMathPara>
            </a14:m>
            <a:endParaRPr sz="4800"/>
          </a:p>
        </p:txBody>
      </p:sp>
      <p:sp>
        <p:nvSpPr>
          <p:cNvPr id="635" name="então, as funções de Ursell  , são soluções de"/>
          <p:cNvSpPr txBox="1"/>
          <p:nvPr/>
        </p:nvSpPr>
        <p:spPr>
          <a:xfrm>
            <a:off x="2895600" y="7142069"/>
            <a:ext cx="18543931" cy="1044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então, as funções de Ursell </a:t>
            </a:r>
            <a14:m>
              <m:oMath>
                <m:sSubSup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ψ</m:t>
                    </m:r>
                  </m:e>
                  <m:sub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  <m:sup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sup>
                </m:sSubSup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sSubSup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ψ</m:t>
                    </m:r>
                  </m:e>
                  <m:sub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  <m:sup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sup>
                </m:sSubSup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sSub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…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sSub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</m:sSub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, são soluções de</a:t>
            </a:r>
          </a:p>
        </p:txBody>
      </p:sp>
      <p:sp>
        <p:nvSpPr>
          <p:cNvPr id="636" name="Equation"/>
          <p:cNvSpPr txBox="1"/>
          <p:nvPr/>
        </p:nvSpPr>
        <p:spPr>
          <a:xfrm>
            <a:off x="5099805" y="8494937"/>
            <a:ext cx="15004150" cy="21912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limUp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</m:lim>
                  </m:limUp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eqArr>
                        <m:eqArr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</m:eqArr>
                    </m:lim>
                  </m:limLow>
                  <m:sSub>
                    <m:e>
                      <m:limUp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lim>
                  </m:limLow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eqArr>
                        <m:eqArr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∖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</m:eqArr>
                    </m:lim>
                  </m:limLow>
                  <m:sSub>
                    <m:e>
                      <m:limUp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J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∖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J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637" name="Equation"/>
          <p:cNvSpPr txBox="1"/>
          <p:nvPr/>
        </p:nvSpPr>
        <p:spPr>
          <a:xfrm>
            <a:off x="2895600" y="11439142"/>
            <a:ext cx="4047172" cy="77629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limUp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: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limUp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638" name="Equation"/>
          <p:cNvSpPr txBox="1"/>
          <p:nvPr/>
        </p:nvSpPr>
        <p:spPr>
          <a:xfrm>
            <a:off x="7384482" y="11564548"/>
            <a:ext cx="3530737" cy="52547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⊂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{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…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}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639" name="Equation"/>
          <p:cNvSpPr txBox="1"/>
          <p:nvPr/>
        </p:nvSpPr>
        <p:spPr>
          <a:xfrm>
            <a:off x="11356929" y="11443904"/>
            <a:ext cx="3356661" cy="87936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lim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1,</m:t>
                  </m:r>
                </m:oMath>
              </m:oMathPara>
            </a14:m>
            <a:endParaRPr sz="4800"/>
          </a:p>
        </p:txBody>
      </p:sp>
      <p:sp>
        <p:nvSpPr>
          <p:cNvPr id="640" name="se  , e   se"/>
          <p:cNvSpPr txBox="1"/>
          <p:nvPr/>
        </p:nvSpPr>
        <p:spPr>
          <a:xfrm>
            <a:off x="15155301" y="11130566"/>
            <a:ext cx="5838984" cy="959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se </a:t>
            </a:r>
            <a14:m>
              <m:oMath>
                <m:r>
                  <a:rPr xmlns:a="http://schemas.openxmlformats.org/drawingml/2006/main" sz="65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65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r>
                  <a:rPr xmlns:a="http://schemas.openxmlformats.org/drawingml/2006/main" sz="65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65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65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  <a:r>
              <a:t>, e </a:t>
            </a:r>
            <a14:m>
              <m:oMath>
                <m:r>
                  <a:rPr xmlns:a="http://schemas.openxmlformats.org/drawingml/2006/main" sz="6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t> se </a:t>
            </a:r>
            <a14:m>
              <m:oMath>
                <m:r>
                  <a:rPr xmlns:a="http://schemas.openxmlformats.org/drawingml/2006/main" sz="6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≠</m:t>
                </m:r>
              </m:oMath>
            </a14:m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643" name="GR contínuo"/>
          <p:cNvSpPr txBox="1"/>
          <p:nvPr>
            <p:ph type="body" idx="13"/>
          </p:nvPr>
        </p:nvSpPr>
        <p:spPr>
          <a:xfrm>
            <a:off x="1206500" y="2374900"/>
            <a:ext cx="21971000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GR contínuo</a:t>
            </a:r>
          </a:p>
        </p:txBody>
      </p:sp>
      <p:sp>
        <p:nvSpPr>
          <p:cNvPr id="64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45" name="Brydges-Kennedy: além disso,   pode ser escrita"/>
          <p:cNvSpPr txBox="1"/>
          <p:nvPr/>
        </p:nvSpPr>
        <p:spPr>
          <a:xfrm>
            <a:off x="2895600" y="3689948"/>
            <a:ext cx="13968541" cy="1044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Brydges-Kennedy: além disso, </a:t>
            </a:r>
            <a14:m>
              <m:oMath>
                <m:sSubSup>
                  <m:e>
                    <m:r>
                      <a:rPr xmlns:a="http://schemas.openxmlformats.org/drawingml/2006/main" sz="5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ψ</m:t>
                    </m:r>
                  </m:e>
                  <m:sub>
                    <m:r>
                      <a:rPr xmlns:a="http://schemas.openxmlformats.org/drawingml/2006/main" sz="5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  <m:sup>
                    <m:r>
                      <a:rPr xmlns:a="http://schemas.openxmlformats.org/drawingml/2006/main" sz="5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sup>
                </m:sSubSup>
              </m:oMath>
            </a14:m>
            <a:r>
              <a:t> pode ser escrita</a:t>
            </a:r>
          </a:p>
        </p:txBody>
      </p:sp>
      <p:sp>
        <p:nvSpPr>
          <p:cNvPr id="646" name="Equation"/>
          <p:cNvSpPr txBox="1"/>
          <p:nvPr/>
        </p:nvSpPr>
        <p:spPr>
          <a:xfrm>
            <a:off x="3141103" y="5356997"/>
            <a:ext cx="18101794" cy="168861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ψ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…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p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lim>
                  </m:limLow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∏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lim>
                  </m:limLow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p>
                  </m:sSubSup>
                  <m:sSub>
                    <m:e>
                      <m:limUp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exp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</m:lim>
                  </m:limLow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p>
                  </m:sSubSup>
                  <m:sSub>
                    <m:e>
                      <m:limUp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647" name="Onde   são as árvores com vértices em  ,…"/>
          <p:cNvSpPr txBox="1"/>
          <p:nvPr/>
        </p:nvSpPr>
        <p:spPr>
          <a:xfrm>
            <a:off x="3141103" y="7747683"/>
            <a:ext cx="14123612" cy="2320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Onde </a:t>
            </a:r>
            <a14:m>
              <m:oMath>
                <m:r>
                  <a:rPr xmlns:a="http://schemas.openxmlformats.org/drawingml/2006/main" sz="5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  <a:r>
              <a:t> são as árvores com vértices em </a:t>
            </a:r>
            <a14:m>
              <m:oMath>
                <m:r>
                  <a:rPr xmlns:a="http://schemas.openxmlformats.org/drawingml/2006/main" sz="6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{</m:t>
                </m:r>
                <m:r>
                  <a:rPr xmlns:a="http://schemas.openxmlformats.org/drawingml/2006/main" sz="6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1,</m:t>
                </m:r>
                <m:r>
                  <a:rPr xmlns:a="http://schemas.openxmlformats.org/drawingml/2006/main" sz="6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…</m:t>
                </m:r>
                <m:r>
                  <a:rPr xmlns:a="http://schemas.openxmlformats.org/drawingml/2006/main" sz="6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6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xmlns:a="http://schemas.openxmlformats.org/drawingml/2006/main" sz="6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}</m:t>
                </m:r>
              </m:oMath>
            </a14:m>
            <a:r>
              <a:t>,</a:t>
            </a:r>
          </a:p>
          <a:p>
            <a:pPr/>
            <a:r>
              <a:t> </a:t>
            </a:r>
            <a14:m>
              <m:oMath>
                <m:r>
                  <a:rPr xmlns:a="http://schemas.openxmlformats.org/drawingml/2006/main" sz="6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b</m:t>
                </m:r>
              </m:oMath>
            </a14:m>
            <a:r>
              <a:t> são as ligações em </a:t>
            </a:r>
            <a14:m>
              <m:oMath>
                <m:r>
                  <a:rPr xmlns:a="http://schemas.openxmlformats.org/drawingml/2006/main" sz="5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  <a:r>
              <a:t> e </a:t>
            </a:r>
          </a:p>
        </p:txBody>
      </p:sp>
      <p:sp>
        <p:nvSpPr>
          <p:cNvPr id="648" name="Equation"/>
          <p:cNvSpPr txBox="1"/>
          <p:nvPr/>
        </p:nvSpPr>
        <p:spPr>
          <a:xfrm>
            <a:off x="4272059" y="10544641"/>
            <a:ext cx="15839881" cy="62698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k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: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sup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{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: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∈</m:t>
                  </m:r>
                  <m:r>
                    <m:rPr>
                      <m:nor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único caminho de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m:rPr>
                      <m:nor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que une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k</m:t>
                  </m:r>
                  <m:r>
                    <m:rPr>
                      <m:nor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}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651" name="Equações Majorantes"/>
          <p:cNvSpPr txBox="1"/>
          <p:nvPr>
            <p:ph type="body" idx="13"/>
          </p:nvPr>
        </p:nvSpPr>
        <p:spPr>
          <a:xfrm>
            <a:off x="1206500" y="5923221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Equações Majorantes</a:t>
            </a:r>
          </a:p>
        </p:txBody>
      </p:sp>
      <p:sp>
        <p:nvSpPr>
          <p:cNvPr id="65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655" name="Equações Majorantes"/>
          <p:cNvSpPr txBox="1"/>
          <p:nvPr>
            <p:ph type="body" idx="13"/>
          </p:nvPr>
        </p:nvSpPr>
        <p:spPr>
          <a:xfrm>
            <a:off x="1206500" y="2374900"/>
            <a:ext cx="21971000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Equações Majorantes</a:t>
            </a:r>
          </a:p>
        </p:txBody>
      </p:sp>
      <p:sp>
        <p:nvSpPr>
          <p:cNvPr id="6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57" name="Marchetti &amp; Guidi provaram que se  ,"/>
          <p:cNvSpPr txBox="1"/>
          <p:nvPr/>
        </p:nvSpPr>
        <p:spPr>
          <a:xfrm>
            <a:off x="2895600" y="3291925"/>
            <a:ext cx="18285551" cy="1793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Marchetti &amp; Guidi provaram que se </a:t>
            </a:r>
            <a14:m>
              <m:oMath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∥</m:t>
                </m:r>
                <m:sSub>
                  <m:e>
                    <m:r>
                      <a:rPr xmlns:a="http://schemas.openxmlformats.org/drawingml/2006/main" sz="5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ϕ</m:t>
                    </m:r>
                  </m:e>
                  <m:sub>
                    <m:r>
                      <a:rPr xmlns:a="http://schemas.openxmlformats.org/drawingml/2006/main" sz="5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γ</m:t>
                    </m:r>
                  </m:sub>
                </m:sSub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∥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: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∫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sSub>
                  <m:e>
                    <m:r>
                      <a:rPr xmlns:a="http://schemas.openxmlformats.org/drawingml/2006/main" sz="5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ϕ</m:t>
                    </m:r>
                  </m:e>
                  <m:sub>
                    <m:r>
                      <a:rPr xmlns:a="http://schemas.openxmlformats.org/drawingml/2006/main" sz="5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γ</m:t>
                    </m:r>
                  </m:sub>
                </m:sSub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d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μ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&lt;</m:t>
                </m:r>
                <m:r>
                  <m:rPr>
                    <m:sty m:val="p"/>
                  </m:rP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∞</m:t>
                </m:r>
              </m:oMath>
            </a14:m>
            <a:r>
              <a:t>,</a:t>
            </a:r>
          </a:p>
        </p:txBody>
      </p:sp>
      <p:sp>
        <p:nvSpPr>
          <p:cNvPr id="658" name="e se   for decomposto em  :"/>
          <p:cNvSpPr txBox="1"/>
          <p:nvPr/>
        </p:nvSpPr>
        <p:spPr>
          <a:xfrm>
            <a:off x="2895600" y="4853047"/>
            <a:ext cx="15220252" cy="1105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14:m>
              <m:oMath>
                <m:sSub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ϕ</m:t>
                    </m:r>
                  </m:e>
                  <m:sub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γ</m:t>
                    </m:r>
                  </m:sub>
                </m:sSub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ϕ</m:t>
                    </m:r>
                  </m:e>
                  <m:sub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γ</m:t>
                    </m:r>
                  </m:sub>
                </m:sSub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e se </a:t>
            </a:r>
            <a14:m>
              <m:oMath>
                <m:sSub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ϕ</m:t>
                    </m:r>
                  </m:e>
                  <m:sub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γ</m:t>
                    </m:r>
                  </m:sub>
                </m:sSub>
              </m:oMath>
            </a14:m>
            <a:r>
              <a:t> for decomposto em </a:t>
            </a:r>
            <a14:m>
              <m:oMath>
                <m:sSub>
                  <m:e>
                    <m:limUpp>
                      <m:e>
                        <m:r>
                          <a:rPr xmlns:a="http://schemas.openxmlformats.org/drawingml/2006/main"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lim>
                        <m:r>
                          <a:rPr xmlns:a="http://schemas.openxmlformats.org/drawingml/2006/main"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</m:lim>
                    </m:limUpp>
                  </m:e>
                  <m:sub>
                    <m:r>
                      <a:rPr xmlns:a="http://schemas.openxmlformats.org/drawingml/2006/main"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γ</m:t>
                    </m:r>
                  </m:sub>
                </m:sSub>
              </m:oMath>
            </a14:m>
            <a:r>
              <a:t>:</a:t>
            </a:r>
          </a:p>
        </p:txBody>
      </p:sp>
      <p:sp>
        <p:nvSpPr>
          <p:cNvPr id="659" name="Equation"/>
          <p:cNvSpPr txBox="1"/>
          <p:nvPr/>
        </p:nvSpPr>
        <p:spPr>
          <a:xfrm>
            <a:off x="9119177" y="6210828"/>
            <a:ext cx="6145645" cy="166583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sub>
                    <m:sup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sup>
                  </m:sSubSup>
                  <m:sSub>
                    <m:e>
                      <m:limUp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;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660" name="Então a pressão   e a magnetização"/>
          <p:cNvSpPr txBox="1"/>
          <p:nvPr/>
        </p:nvSpPr>
        <p:spPr>
          <a:xfrm>
            <a:off x="2839338" y="8296883"/>
            <a:ext cx="18398075" cy="2392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Então a pressão </a:t>
            </a:r>
            <a14:m>
              <m:oMath>
                <m:sSub>
                  <m:e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</m:e>
                  <m:sub>
                    <m:r>
                      <m:rPr>
                        <m:sty m:val="p"/>
                      </m:rP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Λ</m:t>
                    </m:r>
                  </m:sub>
                </m:sSub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β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: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m:rPr>
                    <m:sty m:val="p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log</m:t>
                </m:r>
                <m:sSub>
                  <m:e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Z</m:t>
                    </m:r>
                  </m:e>
                  <m:sub>
                    <m:r>
                      <m:rPr>
                        <m:sty m:val="p"/>
                      </m:rP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Λ</m:t>
                    </m:r>
                  </m:sub>
                </m:sSub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β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β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m:rPr>
                    <m:sty m:val="p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Λ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</m:oMath>
            </a14:m>
            <a:r>
              <a:t> e a magnetização</a:t>
            </a:r>
          </a:p>
          <a:p>
            <a:pPr/>
            <a14:m>
              <m:oMathPara>
                <m:oMathParaPr>
                  <m:jc m:val="left"/>
                </m:oMathParaPr>
                <m:oMath>
                  <m:sSub>
                    <m:e>
                      <m:r>
                        <a:rPr xmlns:a="http://schemas.openxmlformats.org/drawingml/2006/main" sz="5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m:rPr>
                          <m:sty m:val="p"/>
                        </m:rPr>
                        <a:rPr xmlns:a="http://schemas.openxmlformats.org/drawingml/2006/main" sz="5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</m:sub>
                  </m:sSub>
                  <m:r>
                    <a:rPr xmlns:a="http://schemas.openxmlformats.org/drawingml/2006/main" sz="5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r>
                    <a:rPr xmlns:a="http://schemas.openxmlformats.org/drawingml/2006/main" sz="5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5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5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 xmlns:a="http://schemas.openxmlformats.org/drawingml/2006/main" sz="5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∂</m:t>
                  </m:r>
                  <m:sSub>
                    <m:e>
                      <m:r>
                        <a:rPr xmlns:a="http://schemas.openxmlformats.org/drawingml/2006/main" sz="5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e>
                    <m:sub>
                      <m:r>
                        <m:rPr>
                          <m:sty m:val="p"/>
                        </m:rPr>
                        <a:rPr xmlns:a="http://schemas.openxmlformats.org/drawingml/2006/main" sz="5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</m:sub>
                  </m:sSub>
                  <m:r>
                    <a:rPr xmlns:a="http://schemas.openxmlformats.org/drawingml/2006/main" sz="5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r>
                    <a:rPr xmlns:a="http://schemas.openxmlformats.org/drawingml/2006/main" sz="5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5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5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/</m:t>
                  </m:r>
                  <m:r>
                    <m:rPr>
                      <m:sty m:val="p"/>
                    </m:rPr>
                    <a:rPr xmlns:a="http://schemas.openxmlformats.org/drawingml/2006/main" sz="5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∂</m:t>
                  </m:r>
                  <m:r>
                    <a:rPr xmlns:a="http://schemas.openxmlformats.org/drawingml/2006/main" sz="5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</m:oMath>
              </m:oMathPara>
            </a14:m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663" name="Equações Majorantes"/>
          <p:cNvSpPr txBox="1"/>
          <p:nvPr>
            <p:ph type="body" idx="13"/>
          </p:nvPr>
        </p:nvSpPr>
        <p:spPr>
          <a:xfrm>
            <a:off x="1206500" y="2374900"/>
            <a:ext cx="21971000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Equações Majorantes</a:t>
            </a:r>
          </a:p>
        </p:txBody>
      </p:sp>
      <p:sp>
        <p:nvSpPr>
          <p:cNvPr id="6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65" name="Marchetti &amp; Guidi:"/>
          <p:cNvSpPr txBox="1"/>
          <p:nvPr/>
        </p:nvSpPr>
        <p:spPr>
          <a:xfrm>
            <a:off x="2895600" y="3784590"/>
            <a:ext cx="500390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Marchetti &amp; Guidi:</a:t>
            </a:r>
          </a:p>
        </p:txBody>
      </p:sp>
      <p:sp>
        <p:nvSpPr>
          <p:cNvPr id="666" name="Então a pressão   e a magnetização…"/>
          <p:cNvSpPr txBox="1"/>
          <p:nvPr/>
        </p:nvSpPr>
        <p:spPr>
          <a:xfrm>
            <a:off x="2895600" y="4839448"/>
            <a:ext cx="18398074" cy="3598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Então a pressão </a:t>
            </a:r>
            <a14:m>
              <m:oMath>
                <m:sSub>
                  <m:e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</m:e>
                  <m:sub>
                    <m:r>
                      <m:rPr>
                        <m:sty m:val="p"/>
                      </m:rP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Λ</m:t>
                    </m:r>
                  </m:sub>
                </m:sSub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β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: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m:rPr>
                    <m:sty m:val="p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log</m:t>
                </m:r>
                <m:sSub>
                  <m:e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Z</m:t>
                    </m:r>
                  </m:e>
                  <m:sub>
                    <m:r>
                      <m:rPr>
                        <m:sty m:val="p"/>
                      </m:rP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Λ</m:t>
                    </m:r>
                  </m:sub>
                </m:sSub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β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β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m:rPr>
                    <m:sty m:val="p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Λ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</m:oMath>
            </a14:m>
            <a:r>
              <a:t> e a magnetização</a:t>
            </a:r>
          </a:p>
          <a:p>
            <a:pPr/>
            <a14:m>
              <m:oMath>
                <m:sSub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m:rPr>
                        <m:sty m:val="p"/>
                      </m:rP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Λ</m:t>
                    </m:r>
                  </m:sub>
                </m:sSub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β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: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m:rPr>
                    <m:sty m:val="p"/>
                  </m:rP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∂</m:t>
                </m:r>
                <m:sSub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</m:e>
                  <m:sub>
                    <m:r>
                      <m:rPr>
                        <m:sty m:val="p"/>
                      </m:rP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Λ</m:t>
                    </m:r>
                  </m:sub>
                </m:sSub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β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/</m:t>
                </m:r>
                <m:r>
                  <m:rPr>
                    <m:sty m:val="p"/>
                  </m:rP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∂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</m:oMath>
            </a14:m>
            <a:r>
              <a:t> são limitadas por </a:t>
            </a:r>
            <a14:m>
              <m:oMath>
                <m:r>
                  <m:rPr>
                    <m:sty m:val="p"/>
                  </m:rP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Φ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z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e </a:t>
            </a:r>
            <a14:m>
              <m:oMath>
                <m:r>
                  <m:rPr>
                    <m:sty m:val="p"/>
                  </m:rP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Θ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z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,</a:t>
            </a:r>
          </a:p>
          <a:p>
            <a:pPr/>
            <a:r>
              <a:t>respectivamente:</a:t>
            </a:r>
          </a:p>
        </p:txBody>
      </p:sp>
      <p:sp>
        <p:nvSpPr>
          <p:cNvPr id="667" name="Equation"/>
          <p:cNvSpPr txBox="1"/>
          <p:nvPr/>
        </p:nvSpPr>
        <p:spPr>
          <a:xfrm>
            <a:off x="4496495" y="9397879"/>
            <a:ext cx="5226915" cy="67400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e>
                    <m:sub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Φ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668" name="Equation"/>
          <p:cNvSpPr txBox="1"/>
          <p:nvPr/>
        </p:nvSpPr>
        <p:spPr>
          <a:xfrm>
            <a:off x="12619815" y="9397879"/>
            <a:ext cx="5096257" cy="67400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Θ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671" name="Equações Majorantes"/>
          <p:cNvSpPr txBox="1"/>
          <p:nvPr>
            <p:ph type="body" idx="13"/>
          </p:nvPr>
        </p:nvSpPr>
        <p:spPr>
          <a:xfrm>
            <a:off x="1206500" y="2374900"/>
            <a:ext cx="21971000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Equações Majorantes</a:t>
            </a:r>
          </a:p>
        </p:txBody>
      </p:sp>
      <p:sp>
        <p:nvSpPr>
          <p:cNvPr id="6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73" name="Marchetti &amp; Guidi:"/>
          <p:cNvSpPr txBox="1"/>
          <p:nvPr/>
        </p:nvSpPr>
        <p:spPr>
          <a:xfrm>
            <a:off x="2895600" y="3784590"/>
            <a:ext cx="500390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Marchetti &amp; Guidi:</a:t>
            </a:r>
          </a:p>
        </p:txBody>
      </p:sp>
      <p:sp>
        <p:nvSpPr>
          <p:cNvPr id="674" name="Equation"/>
          <p:cNvSpPr txBox="1"/>
          <p:nvPr/>
        </p:nvSpPr>
        <p:spPr>
          <a:xfrm>
            <a:off x="4379490" y="5067933"/>
            <a:ext cx="5226914" cy="67399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e>
                    <m:sub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Φ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675" name="Equation"/>
          <p:cNvSpPr txBox="1"/>
          <p:nvPr/>
        </p:nvSpPr>
        <p:spPr>
          <a:xfrm>
            <a:off x="12001500" y="5067933"/>
            <a:ext cx="4994656" cy="67399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Θ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676" name="onde   e   são soluções das seguintes equações, definidas em"/>
          <p:cNvSpPr txBox="1"/>
          <p:nvPr/>
        </p:nvSpPr>
        <p:spPr>
          <a:xfrm>
            <a:off x="1206500" y="6572509"/>
            <a:ext cx="17795015" cy="959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onde </a:t>
            </a:r>
            <a14:m>
              <m:oMath>
                <m:r>
                  <m:rPr>
                    <m:sty m:val="p"/>
                  </m:rPr>
                  <a:rPr xmlns:a="http://schemas.openxmlformats.org/drawingml/2006/main" sz="6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Φ</m:t>
                </m:r>
              </m:oMath>
            </a14:m>
            <a:r>
              <a:t> e </a:t>
            </a:r>
            <a14:m>
              <m:oMath>
                <m:r>
                  <m:rPr>
                    <m:sty m:val="p"/>
                  </m:rPr>
                  <a:rPr xmlns:a="http://schemas.openxmlformats.org/drawingml/2006/main" sz="6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Θ</m:t>
                </m:r>
              </m:oMath>
            </a14:m>
            <a:r>
              <a:t> são soluções das seguintes equações, definidas em</a:t>
            </a:r>
          </a:p>
        </p:txBody>
      </p:sp>
      <p:sp>
        <p:nvSpPr>
          <p:cNvPr id="677" name="Equation"/>
          <p:cNvSpPr txBox="1"/>
          <p:nvPr/>
        </p:nvSpPr>
        <p:spPr>
          <a:xfrm>
            <a:off x="1206500" y="8539424"/>
            <a:ext cx="7742559" cy="70602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/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sSub>
                    <m:e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Φ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sub>
                  </m:sSub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limUp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</m:lim>
                  </m:limUp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sSub>
                    <m:e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Φ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678" name="Equation"/>
          <p:cNvSpPr txBox="1"/>
          <p:nvPr/>
        </p:nvSpPr>
        <p:spPr>
          <a:xfrm>
            <a:off x="1206500" y="9987614"/>
            <a:ext cx="2952753" cy="57098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Φ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679" name="Equation"/>
          <p:cNvSpPr txBox="1"/>
          <p:nvPr/>
        </p:nvSpPr>
        <p:spPr>
          <a:xfrm>
            <a:off x="10828841" y="8539424"/>
            <a:ext cx="11015327" cy="70602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sSup>
                    <m:e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Θ</m:t>
                  </m:r>
                  <m:sSub>
                    <m:e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limUp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</m:lim>
                  </m:limUp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sSub>
                    <m:e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Θ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680" name="Equation"/>
          <p:cNvSpPr txBox="1"/>
          <p:nvPr/>
        </p:nvSpPr>
        <p:spPr>
          <a:xfrm>
            <a:off x="19414492" y="6858000"/>
            <a:ext cx="2238423" cy="57098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∈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]</m:t>
                  </m:r>
                </m:oMath>
              </m:oMathPara>
            </a14:m>
            <a:endParaRPr sz="4800"/>
          </a:p>
        </p:txBody>
      </p:sp>
      <p:sp>
        <p:nvSpPr>
          <p:cNvPr id="681" name="Equation"/>
          <p:cNvSpPr txBox="1"/>
          <p:nvPr/>
        </p:nvSpPr>
        <p:spPr>
          <a:xfrm>
            <a:off x="10828841" y="9987614"/>
            <a:ext cx="2861516" cy="57098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Θ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1,</m:t>
                  </m:r>
                </m:oMath>
              </m:oMathPara>
            </a14:m>
            <a:endParaRPr sz="4800"/>
          </a:p>
        </p:txBody>
      </p:sp>
      <p:sp>
        <p:nvSpPr>
          <p:cNvPr id="682" name="Equation"/>
          <p:cNvSpPr txBox="1"/>
          <p:nvPr/>
        </p:nvSpPr>
        <p:spPr>
          <a:xfrm>
            <a:off x="10503140" y="11590026"/>
            <a:ext cx="3709749" cy="77585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∥</m:t>
                  </m:r>
                  <m:sSub>
                    <m:e>
                      <m:limUp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∥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685" name="Equações Majorantes"/>
          <p:cNvSpPr txBox="1"/>
          <p:nvPr>
            <p:ph type="body" idx="13"/>
          </p:nvPr>
        </p:nvSpPr>
        <p:spPr>
          <a:xfrm>
            <a:off x="1206500" y="2374900"/>
            <a:ext cx="21971000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Equações Majorantes</a:t>
            </a:r>
          </a:p>
        </p:txBody>
      </p:sp>
      <p:sp>
        <p:nvSpPr>
          <p:cNvPr id="6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87" name="Marchetti &amp; Guidi: com esses majorantes conseguimos estimar…"/>
          <p:cNvSpPr txBox="1"/>
          <p:nvPr/>
        </p:nvSpPr>
        <p:spPr>
          <a:xfrm>
            <a:off x="2895600" y="3640254"/>
            <a:ext cx="17300753" cy="2033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Marchetti &amp; Guidi: com esses majorantes conseguimos estimar</a:t>
            </a:r>
          </a:p>
          <a:p>
            <a:pPr/>
            <a:r>
              <a:t>Região de convergência da série de Mayer:</a:t>
            </a:r>
          </a:p>
        </p:txBody>
      </p:sp>
      <p:sp>
        <p:nvSpPr>
          <p:cNvPr id="688" name="Equation"/>
          <p:cNvSpPr txBox="1"/>
          <p:nvPr/>
        </p:nvSpPr>
        <p:spPr>
          <a:xfrm>
            <a:off x="10944589" y="6337401"/>
            <a:ext cx="2494823" cy="52059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τ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&lt;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1,</m:t>
                  </m:r>
                </m:oMath>
              </m:oMathPara>
            </a14:m>
            <a:endParaRPr sz="4800"/>
          </a:p>
        </p:txBody>
      </p:sp>
      <p:sp>
        <p:nvSpPr>
          <p:cNvPr id="689" name="onde,"/>
          <p:cNvSpPr txBox="1"/>
          <p:nvPr/>
        </p:nvSpPr>
        <p:spPr>
          <a:xfrm>
            <a:off x="2895600" y="6857999"/>
            <a:ext cx="1661465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onde,</a:t>
            </a:r>
          </a:p>
        </p:txBody>
      </p:sp>
      <p:sp>
        <p:nvSpPr>
          <p:cNvPr id="690" name="Equation"/>
          <p:cNvSpPr txBox="1"/>
          <p:nvPr/>
        </p:nvSpPr>
        <p:spPr>
          <a:xfrm>
            <a:off x="5846821" y="7446485"/>
            <a:ext cx="13120940" cy="166583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τ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inf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{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p>
                  </m:sSubSup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sSub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∫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  <m:limUp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</m:lim>
                      </m:limUp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sSub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∫</m:t>
                          </m:r>
                        </m:e>
                        <m:sub>
                          <m:sSub>
                            <m:e>
                              <m:r>
                                <a:rPr xmlns:a="http://schemas.openxmlformats.org/drawingml/2006/main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xmlns:a="http://schemas.openxmlformats.org/drawingml/2006/main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  <m:limUp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</m:lim>
                      </m:limUp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sup>
                  </m:sSup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p>
                  </m:sSubSup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}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6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94" name="Fazemos a decomposição do potencial YK com HC de três formas:…"/>
          <p:cNvSpPr txBox="1"/>
          <p:nvPr/>
        </p:nvSpPr>
        <p:spPr>
          <a:xfrm>
            <a:off x="2895600" y="2822574"/>
            <a:ext cx="18507152" cy="465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Fazemos a decomposição do potencial YK com HC de três formas:</a:t>
            </a:r>
          </a:p>
          <a:p>
            <a:pPr marL="609600" indent="-609600">
              <a:buSzPct val="123000"/>
              <a:buChar char="•"/>
            </a:pPr>
            <a:r>
              <a:t>Via derivada da transformada de Fourier;</a:t>
            </a:r>
          </a:p>
          <a:p>
            <a:pPr marL="609600" indent="-609600">
              <a:buSzPct val="123000"/>
              <a:buChar char="•"/>
            </a:pPr>
            <a:r>
              <a:t>Potencial de Yukawa </a:t>
            </a:r>
            <a14:m>
              <m:oMath>
                <m:sSub>
                  <m:e>
                    <m:r>
                      <a:rPr xmlns:a="http://schemas.openxmlformats.org/drawingml/2006/main" sz="6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ℓ</m:t>
                    </m:r>
                  </m:e>
                  <m:sub>
                    <m:r>
                      <a:rPr xmlns:a="http://schemas.openxmlformats.org/drawingml/2006/main" sz="6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</m:oMath>
            </a14:m>
            <a:r>
              <a:t> em cada direção;</a:t>
            </a:r>
          </a:p>
          <a:p>
            <a:pPr marL="609600" indent="-609600">
              <a:buSzPct val="123000"/>
              <a:buChar char="•"/>
            </a:pPr>
            <a:r>
              <a:t>Via decomposição generalizada de </a:t>
            </a:r>
            <a:r>
              <a:rPr u="sng"/>
              <a:t>Fefferman</a:t>
            </a:r>
            <a:r>
              <a:t>-de la </a:t>
            </a:r>
            <a:r>
              <a:rPr u="sng"/>
              <a:t>Llave.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697" name="Decomposição via Transformada de Fourier"/>
          <p:cNvSpPr txBox="1"/>
          <p:nvPr>
            <p:ph type="body" idx="13"/>
          </p:nvPr>
        </p:nvSpPr>
        <p:spPr>
          <a:xfrm>
            <a:off x="1206500" y="2374900"/>
            <a:ext cx="21971000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Decomposição via Transformada de Fourier</a:t>
            </a:r>
          </a:p>
        </p:txBody>
      </p:sp>
      <p:sp>
        <p:nvSpPr>
          <p:cNvPr id="69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99" name="Modelo: Yukawa-Kac com caroço duro em"/>
          <p:cNvSpPr txBox="1"/>
          <p:nvPr/>
        </p:nvSpPr>
        <p:spPr>
          <a:xfrm>
            <a:off x="2895600" y="3779280"/>
            <a:ext cx="13709274" cy="9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 b="1"/>
              <a:t>Modelo</a:t>
            </a:r>
            <a:r>
              <a:t>: Yukawa-Kac com caroço duro em </a:t>
            </a:r>
            <a14:m>
              <m:oMath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d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</m:t>
                </m:r>
              </m:oMath>
            </a14:m>
          </a:p>
        </p:txBody>
      </p:sp>
      <p:sp>
        <p:nvSpPr>
          <p:cNvPr id="700" name="Equation"/>
          <p:cNvSpPr txBox="1"/>
          <p:nvPr/>
        </p:nvSpPr>
        <p:spPr>
          <a:xfrm>
            <a:off x="8701467" y="5208340"/>
            <a:ext cx="6981066" cy="65835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701" name="onde   e"/>
          <p:cNvSpPr txBox="1"/>
          <p:nvPr/>
        </p:nvSpPr>
        <p:spPr>
          <a:xfrm>
            <a:off x="2895599" y="6192548"/>
            <a:ext cx="4683028" cy="1003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onde </a:t>
            </a:r>
            <a14:m>
              <m:oMath>
                <m:sSub>
                  <m:e>
                    <m:r>
                      <a:rPr xmlns:a="http://schemas.openxmlformats.org/drawingml/2006/main" sz="5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ϕ</m:t>
                    </m:r>
                  </m:e>
                  <m:sub>
                    <m:r>
                      <a:rPr xmlns:a="http://schemas.openxmlformats.org/drawingml/2006/main" sz="5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5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sub>
                </m:sSub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m:rPr>
                    <m:sty m:val="p"/>
                  </m:rP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∞</m:t>
                </m:r>
              </m:oMath>
            </a14:m>
            <a:r>
              <a:t> e</a:t>
            </a:r>
          </a:p>
        </p:txBody>
      </p:sp>
      <p:sp>
        <p:nvSpPr>
          <p:cNvPr id="702" name="Equation"/>
          <p:cNvSpPr txBox="1"/>
          <p:nvPr/>
        </p:nvSpPr>
        <p:spPr>
          <a:xfrm>
            <a:off x="8962108" y="7195835"/>
            <a:ext cx="6844036" cy="91222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Δ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703" name="Decomposição desacoplando   da intensidade do   do alcance:"/>
          <p:cNvSpPr txBox="1"/>
          <p:nvPr/>
        </p:nvSpPr>
        <p:spPr>
          <a:xfrm>
            <a:off x="2895600" y="8830983"/>
            <a:ext cx="17599161" cy="965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Decomposição desacoplando </a:t>
            </a:r>
            <a14:m>
              <m:oMath>
                <m:r>
                  <a:rPr xmlns:a="http://schemas.openxmlformats.org/drawingml/2006/main" sz="5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γ</m:t>
                </m:r>
              </m:oMath>
            </a14:m>
            <a:r>
              <a:t> da intensidade do </a:t>
            </a:r>
            <a14:m>
              <m:oMath>
                <m:r>
                  <a:rPr xmlns:a="http://schemas.openxmlformats.org/drawingml/2006/main" sz="5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γ</m:t>
                </m:r>
              </m:oMath>
            </a14:m>
            <a:r>
              <a:t> do alcance:</a:t>
            </a:r>
          </a:p>
        </p:txBody>
      </p:sp>
      <p:sp>
        <p:nvSpPr>
          <p:cNvPr id="704" name="Equation"/>
          <p:cNvSpPr txBox="1"/>
          <p:nvPr/>
        </p:nvSpPr>
        <p:spPr>
          <a:xfrm>
            <a:off x="2895600" y="10519257"/>
            <a:ext cx="12016179" cy="91222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Δ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V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705" name="Equation"/>
          <p:cNvSpPr txBox="1"/>
          <p:nvPr/>
        </p:nvSpPr>
        <p:spPr>
          <a:xfrm>
            <a:off x="16320208" y="10320049"/>
            <a:ext cx="6857292" cy="131064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V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den>
                  </m:f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ad>
                    <m:rad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degHide m:val="on"/>
                    </m:radPr>
                    <m:deg/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</m:rad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708" name="Decomposição via Transformada de Fourier"/>
          <p:cNvSpPr txBox="1"/>
          <p:nvPr>
            <p:ph type="body" idx="13"/>
          </p:nvPr>
        </p:nvSpPr>
        <p:spPr>
          <a:xfrm>
            <a:off x="1206500" y="2374900"/>
            <a:ext cx="21971000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Decomposição via Transformada de Fourier</a:t>
            </a:r>
          </a:p>
        </p:txBody>
      </p:sp>
      <p:sp>
        <p:nvSpPr>
          <p:cNvPr id="70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10" name="Então escolhemos"/>
          <p:cNvSpPr txBox="1"/>
          <p:nvPr/>
        </p:nvSpPr>
        <p:spPr>
          <a:xfrm>
            <a:off x="2895599" y="3854793"/>
            <a:ext cx="5150207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Então escolhemos</a:t>
            </a:r>
          </a:p>
        </p:txBody>
      </p:sp>
      <p:sp>
        <p:nvSpPr>
          <p:cNvPr id="711" name="Equation"/>
          <p:cNvSpPr txBox="1"/>
          <p:nvPr/>
        </p:nvSpPr>
        <p:spPr>
          <a:xfrm>
            <a:off x="7426709" y="5208340"/>
            <a:ext cx="9496714" cy="162397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den>
                  </m:f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rad>
                        <m:rad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degHide m:val="on"/>
                        </m:radPr>
                        <m:deg/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ad>
                    <m:rad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degHide m:val="on"/>
                    </m:radPr>
                    <m:deg/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</m:rad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712" name="e   uma curva monótona decrescente tal que"/>
          <p:cNvSpPr txBox="1"/>
          <p:nvPr/>
        </p:nvSpPr>
        <p:spPr>
          <a:xfrm>
            <a:off x="2895600" y="6832315"/>
            <a:ext cx="15874811" cy="217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 </a:t>
            </a:r>
            <a14:m>
              <m:oMath>
                <m:r>
                  <m:rPr>
                    <m:sty m:val="p"/>
                    <m:scr m:val="double-struck"/>
                  </m:rP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∋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↦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γ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xmlns:a="http://schemas.openxmlformats.org/drawingml/2006/main" sz="5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uma curva monótona decrescente tal que</a:t>
            </a:r>
          </a:p>
        </p:txBody>
      </p:sp>
      <p:sp>
        <p:nvSpPr>
          <p:cNvPr id="713" name="Equation"/>
          <p:cNvSpPr txBox="1"/>
          <p:nvPr/>
        </p:nvSpPr>
        <p:spPr>
          <a:xfrm>
            <a:off x="8414899" y="8567009"/>
            <a:ext cx="7554201" cy="87936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lim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∞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lim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0.</m:t>
                  </m:r>
                </m:oMath>
              </m:oMathPara>
            </a14:m>
            <a:endParaRPr sz="4800"/>
          </a:p>
        </p:txBody>
      </p:sp>
      <p:sp>
        <p:nvSpPr>
          <p:cNvPr id="714" name="A decomposição de   é um  , uma função monótona…"/>
          <p:cNvSpPr txBox="1"/>
          <p:nvPr/>
        </p:nvSpPr>
        <p:spPr>
          <a:xfrm>
            <a:off x="2895600" y="9526206"/>
            <a:ext cx="17795378" cy="2208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 decomposição de </a:t>
            </a:r>
            <a14:m>
              <m:oMath>
                <m:sSub>
                  <m:e>
                    <m:r>
                      <a:rPr xmlns:a="http://schemas.openxmlformats.org/drawingml/2006/main" sz="5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ϕ</m:t>
                    </m:r>
                  </m:e>
                  <m:sub>
                    <m:r>
                      <a:rPr xmlns:a="http://schemas.openxmlformats.org/drawingml/2006/main" sz="5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5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sub>
                </m:sSub>
              </m:oMath>
            </a14:m>
            <a:r>
              <a:t> é um </a:t>
            </a:r>
            <a14:m>
              <m:oMath>
                <m:sSup>
                  <m:e>
                    <m:r>
                      <a:rPr xmlns:a="http://schemas.openxmlformats.org/drawingml/2006/main" sz="5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</m:e>
                  <m:sup>
                    <m:r>
                      <a:rPr xmlns:a="http://schemas.openxmlformats.org/drawingml/2006/main" sz="5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sup>
                </m:sSup>
                <m:r>
                  <a:rPr xmlns:a="http://schemas.openxmlformats.org/drawingml/2006/main" sz="5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sSup>
                  <m:e>
                    <m:r>
                      <a:rPr xmlns:a="http://schemas.openxmlformats.org/drawingml/2006/main" sz="5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</m:e>
                  <m:sup>
                    <m:r>
                      <a:rPr xmlns:a="http://schemas.openxmlformats.org/drawingml/2006/main" sz="5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sup>
                </m:sSup>
                <m:r>
                  <a:rPr xmlns:a="http://schemas.openxmlformats.org/drawingml/2006/main" sz="5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xmlns:a="http://schemas.openxmlformats.org/drawingml/2006/main" sz="5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s</m:t>
                </m:r>
                <m:r>
                  <a:rPr xmlns:a="http://schemas.openxmlformats.org/drawingml/2006/main" sz="5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, uma função monótona</a:t>
            </a:r>
          </a:p>
          <a:p>
            <a:pPr/>
            <a:r>
              <a:t>crescente tal que</a:t>
            </a:r>
          </a:p>
        </p:txBody>
      </p:sp>
      <p:sp>
        <p:nvSpPr>
          <p:cNvPr id="715" name="Equation"/>
          <p:cNvSpPr txBox="1"/>
          <p:nvPr/>
        </p:nvSpPr>
        <p:spPr>
          <a:xfrm>
            <a:off x="8414899" y="11175779"/>
            <a:ext cx="7418232" cy="88022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lim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∞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0.</m:t>
                  </m:r>
                </m:oMath>
              </m:oMathPara>
            </a14:m>
            <a:endParaRPr sz="48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718" name="Decomposição via Transformada de Fourier"/>
          <p:cNvSpPr txBox="1"/>
          <p:nvPr>
            <p:ph type="body" idx="13"/>
          </p:nvPr>
        </p:nvSpPr>
        <p:spPr>
          <a:xfrm>
            <a:off x="1206500" y="2374900"/>
            <a:ext cx="21971000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Decomposição via Transformada de Fourier</a:t>
            </a:r>
          </a:p>
        </p:txBody>
      </p:sp>
      <p:sp>
        <p:nvSpPr>
          <p:cNvPr id="7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20" name="Assim,"/>
          <p:cNvSpPr txBox="1"/>
          <p:nvPr/>
        </p:nvSpPr>
        <p:spPr>
          <a:xfrm>
            <a:off x="2895600" y="3854793"/>
            <a:ext cx="1943710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Assim,</a:t>
            </a:r>
          </a:p>
        </p:txBody>
      </p:sp>
      <p:sp>
        <p:nvSpPr>
          <p:cNvPr id="721" name="E"/>
          <p:cNvSpPr txBox="1"/>
          <p:nvPr/>
        </p:nvSpPr>
        <p:spPr>
          <a:xfrm>
            <a:off x="2895600" y="6902928"/>
            <a:ext cx="486766" cy="203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</a:t>
            </a:r>
          </a:p>
        </p:txBody>
      </p:sp>
      <p:sp>
        <p:nvSpPr>
          <p:cNvPr id="722" name="Equation"/>
          <p:cNvSpPr txBox="1"/>
          <p:nvPr/>
        </p:nvSpPr>
        <p:spPr>
          <a:xfrm>
            <a:off x="5703921" y="4663225"/>
            <a:ext cx="12976158" cy="77585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limUp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723" name="Equation"/>
          <p:cNvSpPr txBox="1"/>
          <p:nvPr/>
        </p:nvSpPr>
        <p:spPr>
          <a:xfrm>
            <a:off x="7560768" y="7053662"/>
            <a:ext cx="9262464" cy="156644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p>
                  </m:sSubSup>
                  <m:sSub>
                    <m:e>
                      <m:limUp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724" name="Ajustar   para garantir estabilidade."/>
          <p:cNvSpPr txBox="1"/>
          <p:nvPr/>
        </p:nvSpPr>
        <p:spPr>
          <a:xfrm>
            <a:off x="2895599" y="10234683"/>
            <a:ext cx="9655644" cy="966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Ajustar </a:t>
            </a:r>
            <a14:m>
              <m:oMath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</m:oMath>
            </a14:m>
            <a:r>
              <a:t> para garantir estabilidade.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727" name="Decomposição via Transformada de Fourier"/>
          <p:cNvSpPr txBox="1"/>
          <p:nvPr>
            <p:ph type="body" idx="13"/>
          </p:nvPr>
        </p:nvSpPr>
        <p:spPr>
          <a:xfrm>
            <a:off x="1206500" y="2374900"/>
            <a:ext cx="21971000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Decomposição via Transformada de Fourier</a:t>
            </a:r>
          </a:p>
        </p:txBody>
      </p:sp>
      <p:sp>
        <p:nvSpPr>
          <p:cNvPr id="7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29" name="Exigimos"/>
          <p:cNvSpPr txBox="1"/>
          <p:nvPr/>
        </p:nvSpPr>
        <p:spPr>
          <a:xfrm>
            <a:off x="2895600" y="3854793"/>
            <a:ext cx="2597811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Exigimos</a:t>
            </a:r>
          </a:p>
        </p:txBody>
      </p:sp>
      <p:sp>
        <p:nvSpPr>
          <p:cNvPr id="730" name="E essa condição garantirá:"/>
          <p:cNvSpPr txBox="1"/>
          <p:nvPr/>
        </p:nvSpPr>
        <p:spPr>
          <a:xfrm>
            <a:off x="2895599" y="6902928"/>
            <a:ext cx="7350863" cy="203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 essa condição garantirá:</a:t>
            </a:r>
          </a:p>
        </p:txBody>
      </p:sp>
      <p:sp>
        <p:nvSpPr>
          <p:cNvPr id="731" name="Equation"/>
          <p:cNvSpPr txBox="1"/>
          <p:nvPr/>
        </p:nvSpPr>
        <p:spPr>
          <a:xfrm>
            <a:off x="7723421" y="4275253"/>
            <a:ext cx="8734968" cy="181283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≥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limUpp>
                    <m:e>
                      <m:limLow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lim>
                  </m:limUpp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732" name="Equation"/>
          <p:cNvSpPr txBox="1"/>
          <p:nvPr/>
        </p:nvSpPr>
        <p:spPr>
          <a:xfrm>
            <a:off x="6715962" y="8876200"/>
            <a:ext cx="11391800" cy="141668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den>
                  </m:f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log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den>
                  </m:f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log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735" name="Decomposição via Transformada de Fourier"/>
          <p:cNvSpPr txBox="1"/>
          <p:nvPr>
            <p:ph type="body" idx="13"/>
          </p:nvPr>
        </p:nvSpPr>
        <p:spPr>
          <a:xfrm>
            <a:off x="1206500" y="2374900"/>
            <a:ext cx="21971000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Decomposição via Transformada de Fourier</a:t>
            </a:r>
          </a:p>
        </p:txBody>
      </p:sp>
      <p:sp>
        <p:nvSpPr>
          <p:cNvPr id="73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37" name="Queremos calcular a região de convergência"/>
          <p:cNvSpPr txBox="1"/>
          <p:nvPr/>
        </p:nvSpPr>
        <p:spPr>
          <a:xfrm>
            <a:off x="2895599" y="3854793"/>
            <a:ext cx="12245951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Queremos calcular a região de convergência</a:t>
            </a:r>
          </a:p>
        </p:txBody>
      </p:sp>
      <p:sp>
        <p:nvSpPr>
          <p:cNvPr id="738" name="Equation"/>
          <p:cNvSpPr txBox="1"/>
          <p:nvPr/>
        </p:nvSpPr>
        <p:spPr>
          <a:xfrm>
            <a:off x="10847094" y="5208340"/>
            <a:ext cx="2689812" cy="56492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τ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&lt;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1,</m:t>
                  </m:r>
                </m:oMath>
              </m:oMathPara>
            </a14:m>
            <a:endParaRPr sz="4800"/>
          </a:p>
        </p:txBody>
      </p:sp>
      <p:sp>
        <p:nvSpPr>
          <p:cNvPr id="739" name="onde,"/>
          <p:cNvSpPr txBox="1"/>
          <p:nvPr/>
        </p:nvSpPr>
        <p:spPr>
          <a:xfrm>
            <a:off x="2895600" y="5773262"/>
            <a:ext cx="166146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onde,</a:t>
            </a:r>
          </a:p>
        </p:txBody>
      </p:sp>
      <p:sp>
        <p:nvSpPr>
          <p:cNvPr id="740" name="Equation"/>
          <p:cNvSpPr txBox="1"/>
          <p:nvPr/>
        </p:nvSpPr>
        <p:spPr>
          <a:xfrm>
            <a:off x="5053379" y="6858000"/>
            <a:ext cx="14277242" cy="166583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τ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lim</m:t>
                      </m:r>
                    </m:e>
                    <m:lim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lim>
                  </m:limLow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τ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lim</m:t>
                      </m:r>
                    </m:e>
                    <m:lim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lim>
                  </m:limLow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p>
                  </m:sSubSup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exp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p>
                  </m:sSubSup>
                  <m:limUp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</m:lim>
                  </m:limUp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741" name="Equation"/>
          <p:cNvSpPr txBox="1"/>
          <p:nvPr/>
        </p:nvSpPr>
        <p:spPr>
          <a:xfrm>
            <a:off x="2895600" y="10095787"/>
            <a:ext cx="4785996" cy="77585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limUp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</m:lim>
                  </m:limUp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limUp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742" name="Equation"/>
          <p:cNvSpPr txBox="1"/>
          <p:nvPr/>
        </p:nvSpPr>
        <p:spPr>
          <a:xfrm>
            <a:off x="9480401" y="9770484"/>
            <a:ext cx="5779204" cy="142646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745" name="Decomposição via Transformada de Fourier"/>
          <p:cNvSpPr txBox="1"/>
          <p:nvPr>
            <p:ph type="body" idx="13"/>
          </p:nvPr>
        </p:nvSpPr>
        <p:spPr>
          <a:xfrm>
            <a:off x="1206500" y="2374900"/>
            <a:ext cx="21971000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Decomposição via Transformada de Fourier</a:t>
            </a:r>
          </a:p>
        </p:txBody>
      </p:sp>
      <p:sp>
        <p:nvSpPr>
          <p:cNvPr id="7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47" name="Equation"/>
          <p:cNvSpPr txBox="1"/>
          <p:nvPr/>
        </p:nvSpPr>
        <p:spPr>
          <a:xfrm>
            <a:off x="5291733" y="3557954"/>
            <a:ext cx="13800533" cy="158932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p>
                  </m:sSubSup>
                  <m:limUp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</m:lim>
                  </m:limUp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p>
                  </m:sSubSup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log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α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log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748" name="Equation"/>
          <p:cNvSpPr txBox="1"/>
          <p:nvPr/>
        </p:nvSpPr>
        <p:spPr>
          <a:xfrm>
            <a:off x="5291733" y="5994390"/>
            <a:ext cx="3135852" cy="141668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α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: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749" name="Então, para"/>
          <p:cNvSpPr txBox="1"/>
          <p:nvPr/>
        </p:nvSpPr>
        <p:spPr>
          <a:xfrm>
            <a:off x="9431915" y="6223004"/>
            <a:ext cx="5520170" cy="9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Então, para </a:t>
            </a:r>
            <a14:m>
              <m:oMath>
                <m:r>
                  <a:rPr xmlns:a="http://schemas.openxmlformats.org/drawingml/2006/main" sz="6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α</m:t>
                </m:r>
                <m:r>
                  <a:rPr xmlns:a="http://schemas.openxmlformats.org/drawingml/2006/main" sz="6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≠</m:t>
                </m:r>
                <m:r>
                  <a:rPr xmlns:a="http://schemas.openxmlformats.org/drawingml/2006/main" sz="6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6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:</m:t>
                </m:r>
              </m:oMath>
            </a14:m>
          </a:p>
        </p:txBody>
      </p:sp>
      <p:sp>
        <p:nvSpPr>
          <p:cNvPr id="750" name="Equation"/>
          <p:cNvSpPr txBox="1"/>
          <p:nvPr/>
        </p:nvSpPr>
        <p:spPr>
          <a:xfrm>
            <a:off x="7140967" y="8258192"/>
            <a:ext cx="10102065" cy="141242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τ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-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α</m:t>
                          </m:r>
                        </m:sup>
                      </m:sSup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α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α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α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753" name="Decomposição via Transformada de Fourier"/>
          <p:cNvSpPr txBox="1"/>
          <p:nvPr>
            <p:ph type="body" idx="13"/>
          </p:nvPr>
        </p:nvSpPr>
        <p:spPr>
          <a:xfrm>
            <a:off x="1206500" y="2374900"/>
            <a:ext cx="21971000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Decomposição via Transformada de Fourier</a:t>
            </a:r>
          </a:p>
        </p:txBody>
      </p:sp>
      <p:sp>
        <p:nvSpPr>
          <p:cNvPr id="75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55" name="Equation"/>
          <p:cNvSpPr txBox="1"/>
          <p:nvPr/>
        </p:nvSpPr>
        <p:spPr>
          <a:xfrm>
            <a:off x="1206500" y="3584071"/>
            <a:ext cx="3135851" cy="141668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α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: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756" name="Para  :"/>
          <p:cNvSpPr txBox="1"/>
          <p:nvPr/>
        </p:nvSpPr>
        <p:spPr>
          <a:xfrm>
            <a:off x="2895600" y="5721576"/>
            <a:ext cx="3394118" cy="959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Para </a:t>
            </a:r>
            <a14:m>
              <m:oMath>
                <m:r>
                  <a:rPr xmlns:a="http://schemas.openxmlformats.org/drawingml/2006/main" sz="6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α</m:t>
                </m:r>
                <m:r>
                  <a:rPr xmlns:a="http://schemas.openxmlformats.org/drawingml/2006/main" sz="6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&lt;</m:t>
                </m:r>
                <m:r>
                  <a:rPr xmlns:a="http://schemas.openxmlformats.org/drawingml/2006/main" sz="6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  <a:r>
              <a:t>:</a:t>
            </a:r>
          </a:p>
        </p:txBody>
      </p:sp>
      <p:sp>
        <p:nvSpPr>
          <p:cNvPr id="757" name="Equation"/>
          <p:cNvSpPr txBox="1"/>
          <p:nvPr/>
        </p:nvSpPr>
        <p:spPr>
          <a:xfrm>
            <a:off x="7330850" y="5547509"/>
            <a:ext cx="7993095" cy="142646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τ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α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pic>
        <p:nvPicPr>
          <p:cNvPr id="758" name="t-yukawa-hc.png" descr="t-yukawa-hc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74425" y="7886700"/>
            <a:ext cx="8394701" cy="5194300"/>
          </a:xfrm>
          <a:prstGeom prst="rect">
            <a:avLst/>
          </a:prstGeom>
          <a:ln w="12700">
            <a:miter lim="400000"/>
          </a:ln>
        </p:spPr>
      </p:pic>
      <p:sp>
        <p:nvSpPr>
          <p:cNvPr id="759" name="Para"/>
          <p:cNvSpPr txBox="1"/>
          <p:nvPr/>
        </p:nvSpPr>
        <p:spPr>
          <a:xfrm>
            <a:off x="12449585" y="7886700"/>
            <a:ext cx="5940191" cy="973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Para </a:t>
            </a:r>
            <a14:m>
              <m:oMath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γ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: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m:rPr>
                    <m:sty m:val="p"/>
                  </m:rP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exp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xmlns:a="http://schemas.openxmlformats.org/drawingml/2006/main" sz="5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</p:txBody>
      </p:sp>
      <p:sp>
        <p:nvSpPr>
          <p:cNvPr id="760" name="Os pontos são os valores de   a partir…"/>
          <p:cNvSpPr txBox="1"/>
          <p:nvPr/>
        </p:nvSpPr>
        <p:spPr>
          <a:xfrm>
            <a:off x="12449585" y="9301101"/>
            <a:ext cx="10727915" cy="23654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Os pontos são os valores de </a:t>
            </a:r>
            <a14:m>
              <m:oMath>
                <m:r>
                  <a:rPr xmlns:a="http://schemas.openxmlformats.org/drawingml/2006/main" sz="6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α</m:t>
                </m:r>
              </m:oMath>
            </a14:m>
            <a:r>
              <a:t> a partir </a:t>
            </a:r>
          </a:p>
          <a:p>
            <a:pPr/>
            <a:r>
              <a:t>dos quais </a:t>
            </a:r>
            <a14:m>
              <m:oMath>
                <m:sSub>
                  <m:e>
                    <m:r>
                      <a:rPr xmlns:a="http://schemas.openxmlformats.org/drawingml/2006/main" sz="6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τ</m:t>
                    </m:r>
                  </m:e>
                  <m:sub>
                    <m:r>
                      <a:rPr xmlns:a="http://schemas.openxmlformats.org/drawingml/2006/main" sz="6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</m:oMath>
            </a14:m>
            <a:r>
              <a:t> converge em </a:t>
            </a:r>
            <a14:m>
              <m:oMath>
                <m:sSub>
                  <m:e>
                    <m:r>
                      <a:rPr xmlns:a="http://schemas.openxmlformats.org/drawingml/2006/main" sz="5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</m:e>
                  <m:sub>
                    <m:r>
                      <a:rPr xmlns:a="http://schemas.openxmlformats.org/drawingml/2006/main" sz="5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→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m:rPr>
                    <m:sty m:val="p"/>
                  </m:rP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∞</m:t>
                </m:r>
              </m:oMath>
            </a14:m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763" name="YK d = 1 em todas direções"/>
          <p:cNvSpPr txBox="1"/>
          <p:nvPr>
            <p:ph type="body" idx="13"/>
          </p:nvPr>
        </p:nvSpPr>
        <p:spPr>
          <a:xfrm>
            <a:off x="1206500" y="5923221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YK d = 1 em todas direções</a:t>
            </a:r>
          </a:p>
        </p:txBody>
      </p:sp>
      <p:sp>
        <p:nvSpPr>
          <p:cNvPr id="7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767" name="YK d = 1 em todas direções"/>
          <p:cNvSpPr txBox="1"/>
          <p:nvPr>
            <p:ph type="body" idx="13"/>
          </p:nvPr>
        </p:nvSpPr>
        <p:spPr>
          <a:xfrm>
            <a:off x="1206500" y="2374900"/>
            <a:ext cx="21971000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YK d = 1 em todas direções</a:t>
            </a:r>
          </a:p>
        </p:txBody>
      </p:sp>
      <p:sp>
        <p:nvSpPr>
          <p:cNvPr id="7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69" name="Equation"/>
          <p:cNvSpPr txBox="1"/>
          <p:nvPr/>
        </p:nvSpPr>
        <p:spPr>
          <a:xfrm>
            <a:off x="7080637" y="3613893"/>
            <a:ext cx="10222726" cy="140874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</m:sSup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⋯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</m:oMath>
              </m:oMathPara>
            </a14:m>
            <a:endParaRPr sz="4800"/>
          </a:p>
        </p:txBody>
      </p:sp>
      <p:sp>
        <p:nvSpPr>
          <p:cNvPr id="770" name="Equation"/>
          <p:cNvSpPr txBox="1"/>
          <p:nvPr/>
        </p:nvSpPr>
        <p:spPr>
          <a:xfrm>
            <a:off x="6507810" y="6122081"/>
            <a:ext cx="11469979" cy="174159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⇒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…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limUpp>
                    <m:e>
                      <m:limLow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∏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lim>
                  </m:limUp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771" name="Equation"/>
          <p:cNvSpPr txBox="1"/>
          <p:nvPr/>
        </p:nvSpPr>
        <p:spPr>
          <a:xfrm>
            <a:off x="8143263" y="8963123"/>
            <a:ext cx="8097474" cy="157417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den>
                  </m:f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m:rPr>
                          <m:sty m:val="p"/>
                          <m:scr m:val="double-struck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</m:sub>
                  </m:sSub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-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</m:num>
                    <m:den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774" name="YK d = 1 em todas direções"/>
          <p:cNvSpPr txBox="1"/>
          <p:nvPr>
            <p:ph type="body" idx="13"/>
          </p:nvPr>
        </p:nvSpPr>
        <p:spPr>
          <a:xfrm>
            <a:off x="1206500" y="2374900"/>
            <a:ext cx="21971000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YK d = 1 em todas direções</a:t>
            </a:r>
          </a:p>
        </p:txBody>
      </p:sp>
      <p:sp>
        <p:nvSpPr>
          <p:cNvPr id="7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76" name="Então, se   for uma curva tal que"/>
          <p:cNvSpPr txBox="1"/>
          <p:nvPr/>
        </p:nvSpPr>
        <p:spPr>
          <a:xfrm>
            <a:off x="2895600" y="3963543"/>
            <a:ext cx="12416411" cy="965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Então, se </a:t>
            </a:r>
            <a14:m>
              <m:oMath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γ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:</m:t>
                </m:r>
                <m:sSup>
                  <m:e>
                    <m:r>
                      <m:rPr>
                        <m:sty m:val="p"/>
                        <m:scr m:val="double-struck"/>
                      </m:rP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</m:e>
                  <m:sup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</m:sup>
                </m:sSup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→</m:t>
                </m:r>
                <m:sSup>
                  <m:e>
                    <m:r>
                      <m:rPr>
                        <m:sty m:val="p"/>
                        <m:scr m:val="double-struck"/>
                      </m:rP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</m:e>
                  <m:sup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</m:sup>
                </m:sSup>
              </m:oMath>
            </a14:m>
            <a:r>
              <a:t> for uma curva tal que</a:t>
            </a:r>
          </a:p>
        </p:txBody>
      </p:sp>
      <p:sp>
        <p:nvSpPr>
          <p:cNvPr id="777" name="Equation"/>
          <p:cNvSpPr txBox="1"/>
          <p:nvPr/>
        </p:nvSpPr>
        <p:spPr>
          <a:xfrm>
            <a:off x="7976394" y="5978639"/>
            <a:ext cx="8431213" cy="87936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lim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0,</m:t>
                  </m:r>
                  <m:r>
                    <m:rPr>
                      <m:nor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lim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lim>
                  </m:limLow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∞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778" name="(por exemplo,  ) podemos definir"/>
          <p:cNvSpPr txBox="1"/>
          <p:nvPr/>
        </p:nvSpPr>
        <p:spPr>
          <a:xfrm>
            <a:off x="2895600" y="6978242"/>
            <a:ext cx="10528831" cy="973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(por exemplo, </a:t>
            </a:r>
            <a14:m>
              <m:oMath>
                <m:r>
                  <m:rPr>
                    <m:sty m:val="p"/>
                  </m:rP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exp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xmlns:a="http://schemas.openxmlformats.org/drawingml/2006/main" sz="5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) podemos definir</a:t>
            </a:r>
          </a:p>
        </p:txBody>
      </p:sp>
      <p:sp>
        <p:nvSpPr>
          <p:cNvPr id="779" name="Equation"/>
          <p:cNvSpPr txBox="1"/>
          <p:nvPr/>
        </p:nvSpPr>
        <p:spPr>
          <a:xfrm>
            <a:off x="6956021" y="8559865"/>
            <a:ext cx="10471958" cy="174159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limUp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</m:sSup>
                    </m:num>
                    <m:den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</m:sSup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limUpp>
                    <m:e>
                      <m:limLow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∏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lim>
                  </m:limUpp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780" name="Equation"/>
          <p:cNvSpPr txBox="1"/>
          <p:nvPr/>
        </p:nvSpPr>
        <p:spPr>
          <a:xfrm>
            <a:off x="9103804" y="10909635"/>
            <a:ext cx="5981106" cy="153129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783" name="YK d = 1 em todas direções"/>
          <p:cNvSpPr txBox="1"/>
          <p:nvPr>
            <p:ph type="body" idx="13"/>
          </p:nvPr>
        </p:nvSpPr>
        <p:spPr>
          <a:xfrm>
            <a:off x="1206500" y="2374900"/>
            <a:ext cx="21971000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YK d = 1 em todas direções</a:t>
            </a:r>
          </a:p>
        </p:txBody>
      </p:sp>
      <p:sp>
        <p:nvSpPr>
          <p:cNvPr id="7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85" name="Então,"/>
          <p:cNvSpPr txBox="1"/>
          <p:nvPr/>
        </p:nvSpPr>
        <p:spPr>
          <a:xfrm>
            <a:off x="2895600" y="4042003"/>
            <a:ext cx="186446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Então,</a:t>
            </a:r>
          </a:p>
        </p:txBody>
      </p:sp>
      <p:sp>
        <p:nvSpPr>
          <p:cNvPr id="786" name="Equation"/>
          <p:cNvSpPr txBox="1"/>
          <p:nvPr/>
        </p:nvSpPr>
        <p:spPr>
          <a:xfrm>
            <a:off x="5629545" y="5233995"/>
            <a:ext cx="13124911" cy="162400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</m:sup>
                  </m:sSubSup>
                  <m:sSub>
                    <m:e>
                      <m:limUp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δ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sup>
                  </m:sSup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sup>
                  </m:sSup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787" name="Equation"/>
          <p:cNvSpPr txBox="1"/>
          <p:nvPr/>
        </p:nvSpPr>
        <p:spPr>
          <a:xfrm>
            <a:off x="5282343" y="8782316"/>
            <a:ext cx="14394777" cy="152099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  <m:sup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sup>
                  </m:sSubSup>
                  <m:sSub>
                    <m:e>
                      <m:limUp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sub>
                  </m:sSub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;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790" name="YK d = 1 em todas direções"/>
          <p:cNvSpPr txBox="1"/>
          <p:nvPr>
            <p:ph type="body" idx="13"/>
          </p:nvPr>
        </p:nvSpPr>
        <p:spPr>
          <a:xfrm>
            <a:off x="1206500" y="2374900"/>
            <a:ext cx="21971000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YK d = 1 em todas direções</a:t>
            </a:r>
          </a:p>
        </p:txBody>
      </p:sp>
      <p:sp>
        <p:nvSpPr>
          <p:cNvPr id="7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92" name="Equation"/>
          <p:cNvSpPr txBox="1"/>
          <p:nvPr/>
        </p:nvSpPr>
        <p:spPr>
          <a:xfrm>
            <a:off x="7672092" y="3927364"/>
            <a:ext cx="9039816" cy="131852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limUp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</m:lim>
                  </m:limUp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limUp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⇒</m:t>
                  </m:r>
                  <m:limUp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</m:lim>
                  </m:limUp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793" name="Para calcular   :"/>
          <p:cNvSpPr txBox="1"/>
          <p:nvPr/>
        </p:nvSpPr>
        <p:spPr>
          <a:xfrm>
            <a:off x="2895599" y="5245886"/>
            <a:ext cx="10408348" cy="1793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Para calcular </a:t>
            </a:r>
            <a14:m>
              <m:oMath>
                <m:r>
                  <m:rPr>
                    <m:sty m:val="p"/>
                  </m:rP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Γ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∫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sSub>
                  <m:e>
                    <m:limUpp>
                      <m:e>
                        <m:r>
                          <a:rPr xmlns:a="http://schemas.openxmlformats.org/drawingml/2006/main" sz="5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lim>
                        <m:r>
                          <a:rPr xmlns:a="http://schemas.openxmlformats.org/drawingml/2006/main" sz="5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</m:lim>
                    </m:limUpp>
                  </m:e>
                  <m:sub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sub>
                </m:sSub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sSup>
                  <m:e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</m:e>
                  <m:sup>
                    <m:r>
                      <a:rPr xmlns:a="http://schemas.openxmlformats.org/drawingml/2006/main" sz="5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</m:sup>
                </m:sSup>
                <m:r>
                  <a:rPr xmlns:a="http://schemas.openxmlformats.org/drawingml/2006/main" sz="5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</m:oMath>
            </a14:m>
            <a:r>
              <a:t> :</a:t>
            </a:r>
          </a:p>
        </p:txBody>
      </p:sp>
      <p:sp>
        <p:nvSpPr>
          <p:cNvPr id="794" name="Equation"/>
          <p:cNvSpPr txBox="1"/>
          <p:nvPr/>
        </p:nvSpPr>
        <p:spPr>
          <a:xfrm>
            <a:off x="6819808" y="7143928"/>
            <a:ext cx="11095769" cy="130759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</m:num>
                    <m:den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den>
                  </m:f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sup>
                  </m:sSup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795" name="Equation"/>
          <p:cNvSpPr txBox="1"/>
          <p:nvPr/>
        </p:nvSpPr>
        <p:spPr>
          <a:xfrm>
            <a:off x="1206500" y="9768616"/>
            <a:ext cx="7848418" cy="10363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796" name="se"/>
          <p:cNvSpPr txBox="1"/>
          <p:nvPr/>
        </p:nvSpPr>
        <p:spPr>
          <a:xfrm>
            <a:off x="9947871" y="9882560"/>
            <a:ext cx="74645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se</a:t>
            </a:r>
          </a:p>
        </p:txBody>
      </p:sp>
      <p:sp>
        <p:nvSpPr>
          <p:cNvPr id="797" name="Equation"/>
          <p:cNvSpPr txBox="1"/>
          <p:nvPr/>
        </p:nvSpPr>
        <p:spPr>
          <a:xfrm>
            <a:off x="11746896" y="9999800"/>
            <a:ext cx="2247475" cy="57395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∈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k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4800"/>
          </a:p>
        </p:txBody>
      </p:sp>
      <p:sp>
        <p:nvSpPr>
          <p:cNvPr id="798" name="Equation"/>
          <p:cNvSpPr txBox="1"/>
          <p:nvPr/>
        </p:nvSpPr>
        <p:spPr>
          <a:xfrm>
            <a:off x="4974210" y="11027396"/>
            <a:ext cx="4560293" cy="64432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799" name="se"/>
          <p:cNvSpPr txBox="1"/>
          <p:nvPr/>
        </p:nvSpPr>
        <p:spPr>
          <a:xfrm>
            <a:off x="9947871" y="10945342"/>
            <a:ext cx="746456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se</a:t>
            </a:r>
          </a:p>
        </p:txBody>
      </p:sp>
      <p:sp>
        <p:nvSpPr>
          <p:cNvPr id="800" name="Equation"/>
          <p:cNvSpPr txBox="1"/>
          <p:nvPr/>
        </p:nvSpPr>
        <p:spPr>
          <a:xfrm>
            <a:off x="11746896" y="11097769"/>
            <a:ext cx="2608764" cy="57395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∈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[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k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∞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48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803" name="YK d = 1 em todas direções"/>
          <p:cNvSpPr txBox="1"/>
          <p:nvPr>
            <p:ph type="body" idx="13"/>
          </p:nvPr>
        </p:nvSpPr>
        <p:spPr>
          <a:xfrm>
            <a:off x="1206500" y="2374900"/>
            <a:ext cx="21971000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YK d = 1 em todas direções</a:t>
            </a:r>
          </a:p>
        </p:txBody>
      </p:sp>
      <p:sp>
        <p:nvSpPr>
          <p:cNvPr id="8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05" name="Equation"/>
          <p:cNvSpPr txBox="1"/>
          <p:nvPr/>
        </p:nvSpPr>
        <p:spPr>
          <a:xfrm>
            <a:off x="9860045" y="5539477"/>
            <a:ext cx="4663910" cy="131852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limUp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</m:lim>
                  </m:limUp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806" name="Então,"/>
          <p:cNvSpPr txBox="1"/>
          <p:nvPr/>
        </p:nvSpPr>
        <p:spPr>
          <a:xfrm>
            <a:off x="2895600" y="4088805"/>
            <a:ext cx="186446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Então,</a:t>
            </a:r>
          </a:p>
        </p:txBody>
      </p:sp>
      <p:sp>
        <p:nvSpPr>
          <p:cNvPr id="807" name="Equation"/>
          <p:cNvSpPr txBox="1"/>
          <p:nvPr/>
        </p:nvSpPr>
        <p:spPr>
          <a:xfrm>
            <a:off x="6971531" y="7544896"/>
            <a:ext cx="10440938" cy="130088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k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sup>
                  </m:sSup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sup>
                  </m:sSup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rupo de Renormaliz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Grupo de Renormalização</a:t>
            </a:r>
          </a:p>
        </p:txBody>
      </p:sp>
      <p:sp>
        <p:nvSpPr>
          <p:cNvPr id="810" name="YK d = 1 em todas direções"/>
          <p:cNvSpPr txBox="1"/>
          <p:nvPr>
            <p:ph type="body" idx="13"/>
          </p:nvPr>
        </p:nvSpPr>
        <p:spPr>
          <a:xfrm>
            <a:off x="1206500" y="2374900"/>
            <a:ext cx="21971000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YK d = 1 em todas direções</a:t>
            </a:r>
          </a:p>
        </p:txBody>
      </p:sp>
      <p:sp>
        <p:nvSpPr>
          <p:cNvPr id="8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12" name="Equation"/>
          <p:cNvSpPr txBox="1"/>
          <p:nvPr/>
        </p:nvSpPr>
        <p:spPr>
          <a:xfrm>
            <a:off x="9860045" y="5539477"/>
            <a:ext cx="4663910" cy="131852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limUp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</m:lim>
                  </m:limUp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β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sz="4800"/>
          </a:p>
        </p:txBody>
      </p:sp>
      <p:sp>
        <p:nvSpPr>
          <p:cNvPr id="813" name="Então,"/>
          <p:cNvSpPr txBox="1"/>
          <p:nvPr/>
        </p:nvSpPr>
        <p:spPr>
          <a:xfrm>
            <a:off x="2895600" y="4088805"/>
            <a:ext cx="186446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Então,</a:t>
            </a:r>
          </a:p>
        </p:txBody>
      </p:sp>
      <p:sp>
        <p:nvSpPr>
          <p:cNvPr id="814" name="Equation"/>
          <p:cNvSpPr txBox="1"/>
          <p:nvPr/>
        </p:nvSpPr>
        <p:spPr>
          <a:xfrm>
            <a:off x="6971531" y="7544896"/>
            <a:ext cx="10440938" cy="130088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Γ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k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sup>
                  </m:sSup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sup>
                  </m:sSup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  <p:sp>
        <p:nvSpPr>
          <p:cNvPr id="815" name="Podemos calcular  . Em  :"/>
          <p:cNvSpPr txBox="1"/>
          <p:nvPr/>
        </p:nvSpPr>
        <p:spPr>
          <a:xfrm>
            <a:off x="2895600" y="10003987"/>
            <a:ext cx="9400960" cy="959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Podemos calcular </a:t>
            </a:r>
            <a14:m>
              <m:oMath>
                <m:r>
                  <a:rPr xmlns:a="http://schemas.openxmlformats.org/drawingml/2006/main" sz="6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τ</m:t>
                </m:r>
                <m:r>
                  <a:rPr xmlns:a="http://schemas.openxmlformats.org/drawingml/2006/main" sz="6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6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xmlns:a="http://schemas.openxmlformats.org/drawingml/2006/main" sz="6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. Em </a:t>
            </a:r>
            <a14:m>
              <m:oMath>
                <m:r>
                  <a:rPr xmlns:a="http://schemas.openxmlformats.org/drawingml/2006/main" sz="6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d</m:t>
                </m:r>
                <m:r>
                  <a:rPr xmlns:a="http://schemas.openxmlformats.org/drawingml/2006/main" sz="6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6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  <a:r>
              <a:t>:</a:t>
            </a:r>
          </a:p>
        </p:txBody>
      </p:sp>
      <p:sp>
        <p:nvSpPr>
          <p:cNvPr id="816" name="Equation"/>
          <p:cNvSpPr txBox="1"/>
          <p:nvPr/>
        </p:nvSpPr>
        <p:spPr>
          <a:xfrm>
            <a:off x="13330390" y="9831748"/>
            <a:ext cx="2387127" cy="130393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τ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48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